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4" r:id="rId3"/>
    <p:sldId id="265" r:id="rId5"/>
    <p:sldId id="284" r:id="rId6"/>
    <p:sldId id="296" r:id="rId7"/>
    <p:sldId id="291" r:id="rId8"/>
    <p:sldId id="294" r:id="rId9"/>
    <p:sldId id="290" r:id="rId10"/>
    <p:sldId id="288" r:id="rId11"/>
    <p:sldId id="273" r:id="rId12"/>
    <p:sldId id="274" r:id="rId13"/>
    <p:sldId id="279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问题定义" id="{3C63E020-5D96-43ED-9E01-082E476C80DC}">
          <p14:sldIdLst/>
        </p14:section>
        <p14:section name="问题重要性" id="{6FD25D65-EEB2-4A5A-B7BF-632FF25BFCE0}">
          <p14:sldIdLst>
            <p14:sldId id="264"/>
            <p14:sldId id="265"/>
          </p14:sldIdLst>
        </p14:section>
        <p14:section name="相关工作" id="{363A980A-E2CE-4F87-BDB8-42A91E4C4A20}">
          <p14:sldIdLst>
            <p14:sldId id="284"/>
          </p14:sldIdLst>
        </p14:section>
        <p14:section name="核心思想" id="{ED8DB143-127C-480A-A234-E392EE7C61FE}">
          <p14:sldIdLst>
            <p14:sldId id="296"/>
          </p14:sldIdLst>
        </p14:section>
        <p14:section name="Query Rewriter" id="{80F90519-A258-432C-8AD9-1174FEF39CE3}">
          <p14:sldIdLst>
            <p14:sldId id="291"/>
            <p14:sldId id="294"/>
          </p14:sldIdLst>
        </p14:section>
        <p14:section name="Query Planner（查询规划器）" id="{F6FF39E9-9D9B-4846-810E-475334C30D3F}">
          <p14:sldIdLst>
            <p14:sldId id="290"/>
          </p14:sldIdLst>
        </p14:section>
        <p14:section name="experiment" id="{C4C070C4-7BCC-44E1-BD56-B83E2063584E}">
          <p14:sldIdLst>
            <p14:sldId id="288"/>
            <p14:sldId id="273"/>
            <p14:sldId id="274"/>
          </p14:sldIdLst>
        </p14:section>
        <p14:section name="主要结论与启示" id="{E4130A56-CF3B-4A1B-890C-3FEF86E8C06C}">
          <p14:sldIdLst>
            <p14:sldId id="2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cs"/>
              </a:rPr>
              <a:t>随着并发查询的增多，系统会逐渐积累请求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积累请求变多将导致请求响应延迟增加，影响使用价值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cs"/>
              </a:rPr>
              <a:t>在 </a:t>
            </a:r>
            <a:r>
              <a:rPr lang="en-US" altLang="zh-CN" dirty="0">
                <a:latin typeface="+mn-lt"/>
                <a:ea typeface="+mn-ea"/>
                <a:cs typeface="+mn-cs"/>
              </a:rPr>
              <a:t>SAP ESP</a:t>
            </a:r>
            <a:r>
              <a:rPr lang="zh-CN" altLang="en-US" dirty="0">
                <a:latin typeface="+mn-lt"/>
                <a:ea typeface="+mn-ea"/>
                <a:cs typeface="+mn-cs"/>
              </a:rPr>
              <a:t>这样的产品环境里，金融公司有几十个分析师可能会定义其关注的、由市场数据生成的事件，物联网平台服务成百上千租户、监控系统跑数百条规则同时进行。大家关注同一个市场、同一批核心事件。业务逻辑本身就决定了查询之间必然有大量重叠。然而单独评估每个模式查询会导致计算冗余。如果能识别这些共享机会，重复计算变成一次计算，节省的计算资源可以用来处理更多查询或更高速率的数据流。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cs"/>
              </a:rPr>
              <a:t>LLM</a:t>
            </a:r>
            <a:r>
              <a:rPr lang="zh-CN" altLang="en-US" dirty="0">
                <a:latin typeface="+mn-lt"/>
                <a:ea typeface="+mn-ea"/>
                <a:cs typeface="+mn-cs"/>
              </a:rPr>
              <a:t>模型存在幻觉问题</a:t>
            </a:r>
            <a:r>
              <a:rPr lang="en-US" altLang="zh-CN" dirty="0">
                <a:latin typeface="+mn-lt"/>
                <a:ea typeface="+mn-ea"/>
                <a:cs typeface="+mn-cs"/>
              </a:rPr>
              <a:t>—————</a:t>
            </a:r>
            <a:r>
              <a:rPr lang="zh-CN" altLang="en-US" dirty="0">
                <a:latin typeface="+mn-lt"/>
                <a:ea typeface="+mn-ea"/>
                <a:cs typeface="+mn-cs"/>
              </a:rPr>
              <a:t>是个问题，但是不够精细，粗糙的，同性的问题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↑（方向，应用，不够推理）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在长程、多轮推理任务的过程中，大模型无法识别时序相关度的语料，如何在不改变大模型参数的情况下，提升大模型的时许处理能力？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endParaRPr lang="en-US" altLang="zh-CN" dirty="0"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把我的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idea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整理成以下七问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每个维度应简明扼要、逻辑清晰，突出文章的核心贡献与创新点：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What is the problem?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（问题定义）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本文试图解决的具体研究问题或现实挑战是什么？请明确指出该问题的背景、范围及其在相关领域中的定位。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Why it matters?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（问题重要性）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为什么这个问题值得研究？它对学术界、工业界或社会有何潜在影响？请说明其理论价值或实际意义。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Why existing works fail?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（现有方法的局限性）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当前主流方法或已有研究在解决该问题时存在哪些不足？请指出其技术瓶颈、假设限制或实证缺陷。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What is your key idea?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（核心思想）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本文提出的核心洞见或创新理念是什么？这一思想如何突破现有方法的局限？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What is your design?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（技术方案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系统设计）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作者如何将核心思想转化为具体的技术方案、算法、架构或系统？请概述其整体设计思路与关键组件。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What is the experimental plan?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（实验设计）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作者通过哪些实验验证其方法的有效性？包括数据集、基线方法、评估指标、对比设置及消融研究等。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What is the takeaway?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（主要结论与启示）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本文最重要的发现或结论是什么？对后续研究或实践有哪些启示？是否提出了未来方向？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cs"/>
              </a:rPr>
              <a:t>LLM</a:t>
            </a:r>
            <a:r>
              <a:rPr lang="zh-CN" altLang="en-US" dirty="0">
                <a:latin typeface="+mn-lt"/>
                <a:ea typeface="+mn-ea"/>
                <a:cs typeface="+mn-cs"/>
              </a:rPr>
              <a:t>模型存在幻觉问题</a:t>
            </a:r>
            <a:r>
              <a:rPr lang="en-US" altLang="zh-CN" dirty="0">
                <a:latin typeface="+mn-lt"/>
                <a:ea typeface="+mn-ea"/>
                <a:cs typeface="+mn-cs"/>
              </a:rPr>
              <a:t>—————</a:t>
            </a:r>
            <a:r>
              <a:rPr lang="zh-CN" altLang="en-US" dirty="0">
                <a:latin typeface="+mn-lt"/>
                <a:ea typeface="+mn-ea"/>
                <a:cs typeface="+mn-cs"/>
              </a:rPr>
              <a:t>是个问题，但是不够精细，粗糙的，同性的问题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↑（方向，应用，不够推理）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r>
              <a:rPr lang="zh-CN" altLang="en-US" dirty="0">
                <a:latin typeface="+mn-lt"/>
                <a:ea typeface="+mn-ea"/>
                <a:cs typeface="+mn-cs"/>
              </a:rPr>
              <a:t>在长程、多轮推理任务的过程中，大模型无法识别时序相关度的语料，如何在不改变大模型参数的情况下，提升大模型的时许处理能力？</a:t>
            </a:r>
            <a:endParaRPr lang="en-US" altLang="zh-CN" dirty="0">
              <a:latin typeface="+mn-lt"/>
              <a:ea typeface="+mn-ea"/>
              <a:cs typeface="+mn-cs"/>
            </a:endParaRPr>
          </a:p>
          <a:p>
            <a:endParaRPr lang="en-US" altLang="zh-CN" dirty="0"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把我的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idea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整理成以下七问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每个维度应简明扼要、逻辑清晰，突出文章的核心贡献与创新点：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What is the problem?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（问题定义）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本文试图解决的具体研究问题或现实挑战是什么？请明确指出该问题的背景、范围及其在相关领域中的定位。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Why it matters?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（问题重要性）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为什么这个问题值得研究？它对学术界、工业界或社会有何潜在影响？请说明其理论价值或实际意义。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Why existing works fail?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（现有方法的局限性）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当前主流方法或已有研究在解决该问题时存在哪些不足？请指出其技术瓶颈、假设限制或实证缺陷。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What is your key idea?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（核心思想）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本文提出的核心洞见或创新理念是什么？这一思想如何突破现有方法的局限？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What is your design?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（技术方案</a:t>
            </a:r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系统设计）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作者如何将核心思想转化为具体的技术方案、算法、架构或系统？请概述其整体设计思路与关键组件。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What is the experimental plan?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（实验设计）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作者通过哪些实验验证其方法的有效性？包括数据集、基线方法、评估指标、对比设置及消融研究等。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What is the takeaway?</a:t>
            </a:r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（主要结论与启示）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zh-CN" altLang="en-US" b="0" i="0" dirty="0">
                <a:solidFill>
                  <a:srgbClr val="1F1F1F"/>
                </a:solidFill>
                <a:effectLst/>
                <a:latin typeface="+mn-lt"/>
                <a:ea typeface="+mn-ea"/>
                <a:cs typeface="+mn-cs"/>
              </a:rPr>
              <a:t>本文最重要的发现或结论是什么？对后续研究或实践有哪些启示？是否提出了未来方向？</a:t>
            </a:r>
            <a:endParaRPr lang="zh-CN" altLang="en-US" b="0" i="0" dirty="0">
              <a:solidFill>
                <a:srgbClr val="1F1F1F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cs typeface="Arial" panose="020B0604020202020204" pitchFamily="34" charset="0"/>
              </a:rPr>
              <a:t>如何发现共享机会要从易到难逐步解决，多种方法组合使用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>
                <a:latin typeface="+mn-lt"/>
                <a:ea typeface="+mn-ea"/>
                <a:cs typeface="+mn-cs"/>
              </a:defRPr>
            </a:lvl2pPr>
            <a:lvl3pPr marL="914400" indent="0" algn="ctr">
              <a:buNone/>
              <a:defRPr sz="1800">
                <a:latin typeface="+mn-lt"/>
                <a:ea typeface="+mn-ea"/>
                <a:cs typeface="+mn-cs"/>
              </a:defRPr>
            </a:lvl3pPr>
            <a:lvl4pPr marL="1371600" indent="0" algn="ctr">
              <a:buNone/>
              <a:defRPr sz="1600">
                <a:latin typeface="+mn-lt"/>
                <a:ea typeface="+mn-ea"/>
                <a:cs typeface="+mn-cs"/>
              </a:defRPr>
            </a:lvl4pPr>
            <a:lvl5pPr marL="1828800" indent="0" algn="ctr">
              <a:buNone/>
              <a:defRPr sz="1600">
                <a:latin typeface="+mn-lt"/>
                <a:ea typeface="+mn-ea"/>
                <a:cs typeface="+mn-cs"/>
              </a:defRPr>
            </a:lvl5pPr>
            <a:lvl6pPr marL="2286000" indent="0" algn="ctr">
              <a:buNone/>
              <a:defRPr sz="1600">
                <a:latin typeface="+mn-lt"/>
                <a:ea typeface="+mn-ea"/>
                <a:cs typeface="+mn-cs"/>
              </a:defRPr>
            </a:lvl6pPr>
            <a:lvl7pPr marL="2743200" indent="0" algn="ctr">
              <a:buNone/>
              <a:defRPr sz="1600">
                <a:latin typeface="+mn-lt"/>
                <a:ea typeface="+mn-ea"/>
                <a:cs typeface="+mn-cs"/>
              </a:defRPr>
            </a:lvl7pPr>
            <a:lvl8pPr marL="3200400" indent="0" algn="ctr">
              <a:buNone/>
              <a:defRPr sz="1600">
                <a:latin typeface="+mn-lt"/>
                <a:ea typeface="+mn-ea"/>
                <a:cs typeface="+mn-cs"/>
              </a:defRPr>
            </a:lvl8pPr>
            <a:lvl9pPr marL="3657600" indent="0" algn="ctr">
              <a:buNone/>
              <a:defRPr sz="1600"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20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8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8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8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8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800"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8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4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20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8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8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8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8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8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800"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24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20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20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20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20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20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2000"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latin typeface="+mn-lt"/>
                <a:ea typeface="+mn-ea"/>
                <a:cs typeface="+mn-cs"/>
              </a:defRPr>
            </a:lvl2pPr>
            <a:lvl3pPr marL="914400" indent="0">
              <a:buNone/>
              <a:defRPr sz="1600">
                <a:latin typeface="+mn-lt"/>
                <a:ea typeface="+mn-ea"/>
                <a:cs typeface="+mn-cs"/>
              </a:defRPr>
            </a:lvl3pPr>
            <a:lvl4pPr marL="1371600" indent="0">
              <a:buNone/>
              <a:defRPr sz="1400">
                <a:latin typeface="+mn-lt"/>
                <a:ea typeface="+mn-ea"/>
                <a:cs typeface="+mn-cs"/>
              </a:defRPr>
            </a:lvl4pPr>
            <a:lvl5pPr marL="1828800" indent="0">
              <a:buNone/>
              <a:defRPr sz="1400">
                <a:latin typeface="+mn-lt"/>
                <a:ea typeface="+mn-ea"/>
                <a:cs typeface="+mn-cs"/>
              </a:defRPr>
            </a:lvl5pPr>
            <a:lvl6pPr marL="2286000" indent="0">
              <a:buNone/>
              <a:defRPr sz="1400">
                <a:latin typeface="+mn-lt"/>
                <a:ea typeface="+mn-ea"/>
                <a:cs typeface="+mn-cs"/>
              </a:defRPr>
            </a:lvl6pPr>
            <a:lvl7pPr marL="2743200" indent="0">
              <a:buNone/>
              <a:defRPr sz="1400">
                <a:latin typeface="+mn-lt"/>
                <a:ea typeface="+mn-ea"/>
                <a:cs typeface="+mn-cs"/>
              </a:defRPr>
            </a:lvl7pPr>
            <a:lvl8pPr marL="3200400" indent="0">
              <a:buNone/>
              <a:defRPr sz="1400">
                <a:latin typeface="+mn-lt"/>
                <a:ea typeface="+mn-ea"/>
                <a:cs typeface="+mn-cs"/>
              </a:defRPr>
            </a:lvl8pPr>
            <a:lvl9pPr marL="3657600" indent="0">
              <a:buNone/>
              <a:defRPr sz="1400"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>
                <a:latin typeface="+mn-lt"/>
                <a:ea typeface="+mn-ea"/>
                <a:cs typeface="+mn-cs"/>
              </a:rPr>
            </a:fld>
            <a:endParaRPr lang="zh-CN" altLang="en-US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8911" y="365141"/>
            <a:ext cx="11184930" cy="770288"/>
          </a:xfrm>
          <a:prstGeom prst="rect">
            <a:avLst/>
          </a:prstGeo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rgbClr val="0339C4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/>
          <a:lstStyle>
            <a:lvl1pPr>
              <a:defRPr u="none" strike="noStrike" kern="1200" cap="none" spc="0" normalizeH="0">
                <a:latin typeface="+mn-lt"/>
                <a:ea typeface="+mn-ea"/>
                <a:cs typeface="+mn-cs"/>
              </a:defRPr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>
            <a:lvl1pPr>
              <a:defRPr u="none" strike="noStrike" kern="1200" cap="none" spc="0" normalizeH="0"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4"/>
            <p:custDataLst>
              <p:tags r:id="rId2"/>
            </p:custDataLst>
          </p:nvPr>
        </p:nvSpPr>
        <p:spPr>
          <a:xfrm>
            <a:off x="9264004" y="6239200"/>
            <a:ext cx="2700010" cy="316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00" b="1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1672612" y="6556022"/>
            <a:ext cx="4064015" cy="91443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just" defTabSz="2667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830">
              <a:solidFill>
                <a:schemeClr val="tx1"/>
              </a:solidFill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object 2"/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-15198"/>
            <a:ext cx="12192044" cy="28347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+mj-lt"/>
                <a:ea typeface="+mj-ea"/>
                <a:cs typeface="+mj-cs"/>
              </a:rPr>
              <a:t>单击此处编辑母版标题样式</a:t>
            </a:r>
            <a:endParaRPr lang="zh-CN" altLang="en-US">
              <a:latin typeface="+mj-lt"/>
              <a:ea typeface="+mj-ea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>
                <a:latin typeface="+mn-lt"/>
                <a:ea typeface="+mn-ea"/>
                <a:cs typeface="+mn-cs"/>
              </a:rPr>
              <a:t>单击此处编辑母版文本样式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>
                <a:latin typeface="+mn-lt"/>
                <a:ea typeface="+mn-ea"/>
                <a:cs typeface="+mn-cs"/>
              </a:rPr>
              <a:t>第二级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2"/>
            <a:r>
              <a:rPr lang="zh-CN" altLang="en-US">
                <a:latin typeface="+mn-lt"/>
                <a:ea typeface="+mn-ea"/>
                <a:cs typeface="+mn-cs"/>
              </a:rPr>
              <a:t>第三级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3"/>
            <a:r>
              <a:rPr lang="zh-CN" altLang="en-US">
                <a:latin typeface="+mn-lt"/>
                <a:ea typeface="+mn-ea"/>
                <a:cs typeface="+mn-cs"/>
              </a:rPr>
              <a:t>第四级</a:t>
            </a:r>
            <a:endParaRPr lang="zh-CN" altLang="en-US">
              <a:latin typeface="+mn-lt"/>
              <a:ea typeface="+mn-ea"/>
              <a:cs typeface="+mn-cs"/>
            </a:endParaRPr>
          </a:p>
          <a:p>
            <a:pPr lvl="4"/>
            <a:r>
              <a:rPr lang="zh-CN" altLang="en-US">
                <a:latin typeface="+mn-lt"/>
                <a:ea typeface="+mn-ea"/>
                <a:cs typeface="+mn-cs"/>
              </a:rPr>
              <a:t>第五级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35.xml"/><Relationship Id="rId14" Type="http://schemas.openxmlformats.org/officeDocument/2006/relationships/image" Target="../media/image2.emf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/>
          <p:cNvPicPr/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0" y="-15198"/>
            <a:ext cx="12192044" cy="28347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14"/>
          <a:srcRect t="16190" b="50000"/>
          <a:stretch>
            <a:fillRect/>
          </a:stretch>
        </p:blipFill>
        <p:spPr>
          <a:xfrm>
            <a:off x="6704887" y="-15198"/>
            <a:ext cx="3430521" cy="283476"/>
          </a:xfrm>
          <a:prstGeom prst="rect">
            <a:avLst/>
          </a:prstGeom>
        </p:spPr>
      </p:pic>
      <p:sp>
        <p:nvSpPr>
          <p:cNvPr id="10" name="object 3"/>
          <p:cNvSpPr txBox="1"/>
          <p:nvPr userDrawn="1"/>
        </p:nvSpPr>
        <p:spPr>
          <a:xfrm>
            <a:off x="9323936" y="-15241"/>
            <a:ext cx="2868112" cy="283578"/>
          </a:xfrm>
          <a:prstGeom prst="rect">
            <a:avLst/>
          </a:prstGeom>
        </p:spPr>
        <p:txBody>
          <a:bodyPr vert="horz" wrap="square" lIns="0" tIns="6584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 altLang="zh-CN" sz="800" b="1">
                <a:solidFill>
                  <a:schemeClr val="bg1"/>
                </a:solidFill>
                <a:effectLst/>
                <a:sym typeface="Toots Regular" charset="0"/>
              </a:rPr>
              <a:t>Huazhong University of Science and Technology</a:t>
            </a:r>
            <a:endParaRPr lang="en-US" altLang="zh-CN" sz="800">
              <a:solidFill>
                <a:schemeClr val="bg1"/>
              </a:solidFill>
              <a:effectLst/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407953" y="6419211"/>
            <a:ext cx="2700010" cy="3168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00" b="1" u="none" strike="noStrike" kern="1200" cap="none" spc="0" normalizeH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9AE70B2-8BF9-45C0-BB95-33D1B9D3A854}" type="slidenum">
              <a:rPr lang="zh-CN" altLang="en-US" b="0" smtClean="0">
                <a:solidFill>
                  <a:schemeClr val="bg1">
                    <a:lumMod val="50000"/>
                  </a:schemeClr>
                </a:solidFill>
              </a:rPr>
            </a:fld>
            <a:endParaRPr lang="zh-CN" altLang="en-US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tags" Target="../tags/tag4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4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127" y="1426559"/>
            <a:ext cx="6144500" cy="3321721"/>
          </a:xfrm>
          <a:prstGeom prst="rect">
            <a:avLst/>
          </a:prstGeom>
        </p:spPr>
      </p:pic>
      <p:sp>
        <p:nvSpPr>
          <p:cNvPr id="23" name="圆角矩形 22"/>
          <p:cNvSpPr/>
          <p:nvPr userDrawn="1"/>
        </p:nvSpPr>
        <p:spPr>
          <a:xfrm>
            <a:off x="6348095" y="1278890"/>
            <a:ext cx="5505450" cy="3362325"/>
          </a:xfrm>
          <a:prstGeom prst="roundRect">
            <a:avLst>
              <a:gd name="adj" fmla="val 3125"/>
            </a:avLst>
          </a:prstGeom>
          <a:solidFill>
            <a:schemeClr val="bg1">
              <a:alpha val="100000"/>
            </a:schemeClr>
          </a:solidFill>
          <a:ln w="22225" cmpd="sng">
            <a:solidFill>
              <a:srgbClr val="C0C5CE">
                <a:alpha val="60000"/>
              </a:srgbClr>
            </a:solidFill>
            <a:prstDash val="solid"/>
            <a:miter lim="800000"/>
          </a:ln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圆角矩形 5"/>
          <p:cNvSpPr/>
          <p:nvPr userDrawn="1"/>
        </p:nvSpPr>
        <p:spPr>
          <a:xfrm>
            <a:off x="879751" y="4886283"/>
            <a:ext cx="10313488" cy="1156774"/>
          </a:xfrm>
          <a:prstGeom prst="roundRect">
            <a:avLst/>
          </a:prstGeom>
          <a:noFill/>
          <a:ln w="28575">
            <a:solidFill>
              <a:srgbClr val="FF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0" y="263992"/>
            <a:ext cx="12192048" cy="842813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Multi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Query Optimization for Complex Event Processing in SAP ESP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MOTTO</a:t>
            </a:r>
            <a:r>
              <a:rPr lang="en-US" altLang="zh-CN" sz="2400" b="1" dirty="0">
                <a:solidFill>
                  <a:srgbClr val="0339C4"/>
                </a:solidFill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SAP ESP 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中旨在提升大量并发模式查询的性能的多查询优化器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-9397" y="1106847"/>
            <a:ext cx="12201445" cy="0"/>
          </a:xfrm>
          <a:prstGeom prst="line">
            <a:avLst/>
          </a:prstGeom>
          <a:ln w="25400">
            <a:solidFill>
              <a:srgbClr val="0F3EA7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 userDrawn="1"/>
        </p:nvSpPr>
        <p:spPr>
          <a:xfrm>
            <a:off x="1137801" y="4976985"/>
            <a:ext cx="10194563" cy="975333"/>
          </a:xfrm>
          <a:prstGeom prst="rect">
            <a:avLst/>
          </a:prstGeom>
        </p:spPr>
        <p:txBody>
          <a:bodyPr wrap="square" rtlCol="0">
            <a:noAutofit/>
          </a:bodyPr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问题定义：当前系统面对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多查询</a:t>
            </a:r>
            <a:r>
              <a:rPr lang="zh-CN" altLang="en-US" sz="28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时存在查询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独立执行</a:t>
            </a:r>
            <a:r>
              <a:rPr lang="zh-CN" altLang="en-US" sz="28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未能利用</a:t>
            </a:r>
            <a:endParaRPr lang="zh-CN" altLang="en-US" sz="28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8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模式查询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相似性</a:t>
            </a:r>
            <a:r>
              <a:rPr lang="zh-CN" altLang="en-US" sz="28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的问题，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浪费计算资源</a:t>
            </a:r>
            <a:r>
              <a:rPr lang="zh-CN" altLang="en-US" sz="28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导致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损害执行效率</a:t>
            </a:r>
            <a:endParaRPr lang="zh-CN" altLang="en-US" sz="2800" b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6690995" y="1426578"/>
            <a:ext cx="4820285" cy="369570"/>
          </a:xfrm>
          <a:prstGeom prst="rect">
            <a:avLst/>
          </a:prstGeom>
        </p:spPr>
        <p:txBody>
          <a:bodyPr wrap="square" rtlCol="0">
            <a:noAutofit/>
          </a:bodyPr>
          <a:p>
            <a:pPr algn="ctr"/>
            <a:r>
              <a:rPr lang="zh-CN" altLang="en-US" sz="2000" b="1">
                <a:solidFill>
                  <a:srgbClr val="0339C4"/>
                </a:solidFill>
              </a:rPr>
              <a:t>传统</a:t>
            </a:r>
            <a:r>
              <a:rPr lang="zh-CN" altLang="en-US" sz="2000" b="1">
                <a:solidFill>
                  <a:srgbClr val="0339C4"/>
                </a:solidFill>
                <a:cs typeface="Arial" panose="020B0604020202020204" pitchFamily="34" charset="0"/>
              </a:rPr>
              <a:t>方法：</a:t>
            </a:r>
            <a:r>
              <a:rPr lang="zh-CN" altLang="en-US" sz="2000" b="1">
                <a:solidFill>
                  <a:srgbClr val="0339C4"/>
                </a:solidFill>
              </a:rPr>
              <a:t>独立查询</a:t>
            </a:r>
            <a:endParaRPr lang="zh-CN" altLang="en-US" sz="2000" b="1">
              <a:solidFill>
                <a:srgbClr val="0339C4"/>
              </a:solidFill>
            </a:endParaRPr>
          </a:p>
        </p:txBody>
      </p:sp>
      <p:grpSp>
        <p:nvGrpSpPr>
          <p:cNvPr id="38" name="组合 37"/>
          <p:cNvGrpSpPr/>
          <p:nvPr userDrawn="1"/>
        </p:nvGrpSpPr>
        <p:grpSpPr>
          <a:xfrm>
            <a:off x="6894195" y="2015490"/>
            <a:ext cx="4495165" cy="2153285"/>
            <a:chOff x="11322" y="3174"/>
            <a:chExt cx="7079" cy="3391"/>
          </a:xfrm>
        </p:grpSpPr>
        <p:grpSp>
          <p:nvGrpSpPr>
            <p:cNvPr id="18" name="组合 17"/>
            <p:cNvGrpSpPr/>
            <p:nvPr userDrawn="1"/>
          </p:nvGrpSpPr>
          <p:grpSpPr>
            <a:xfrm rot="0">
              <a:off x="11455" y="3174"/>
              <a:ext cx="3178" cy="901"/>
              <a:chOff x="10265" y="2787"/>
              <a:chExt cx="2562" cy="1291"/>
            </a:xfrm>
          </p:grpSpPr>
          <p:sp>
            <p:nvSpPr>
              <p:cNvPr id="20" name="Shape 13"/>
              <p:cNvSpPr/>
              <p:nvPr/>
            </p:nvSpPr>
            <p:spPr>
              <a:xfrm>
                <a:off x="10399" y="2787"/>
                <a:ext cx="2295" cy="1291"/>
              </a:xfrm>
              <a:prstGeom prst="rect">
                <a:avLst/>
              </a:prstGeom>
              <a:solidFill>
                <a:srgbClr val="FECDCA"/>
              </a:solidFill>
              <a:ln w="12700" cmpd="sng">
                <a:solidFill>
                  <a:srgbClr val="FF0000">
                    <a:alpha val="100000"/>
                  </a:srgbClr>
                </a:solidFill>
                <a:prstDash val="solid"/>
                <a:miter lim="800000"/>
              </a:ln>
            </p:spPr>
          </p:sp>
          <p:sp>
            <p:nvSpPr>
              <p:cNvPr id="10" name="文本框 9"/>
              <p:cNvSpPr txBox="1"/>
              <p:nvPr userDrawn="1"/>
            </p:nvSpPr>
            <p:spPr>
              <a:xfrm>
                <a:off x="10265" y="3142"/>
                <a:ext cx="2562" cy="582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p>
                <a:pPr marL="0" indent="0" algn="ctr" defTabSz="0" rtl="0" eaLnBrk="1" latinLnBrk="0" hangingPunct="1"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zh-CN" altLang="en-US" b="1">
                    <a:solidFill>
                      <a:srgbClr val="C00000"/>
                    </a:solidFill>
                  </a:rPr>
                  <a:t>计算资源浪费 </a:t>
                </a:r>
                <a:endParaRPr lang="zh-CN" altLang="en-US" b="1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22" name="组合 21"/>
            <p:cNvGrpSpPr/>
            <p:nvPr userDrawn="1"/>
          </p:nvGrpSpPr>
          <p:grpSpPr>
            <a:xfrm rot="0">
              <a:off x="11322" y="4418"/>
              <a:ext cx="3446" cy="901"/>
              <a:chOff x="10155" y="4228"/>
              <a:chExt cx="2816" cy="1292"/>
            </a:xfrm>
          </p:grpSpPr>
          <p:sp>
            <p:nvSpPr>
              <p:cNvPr id="7" name="Shape 13"/>
              <p:cNvSpPr/>
              <p:nvPr/>
            </p:nvSpPr>
            <p:spPr>
              <a:xfrm>
                <a:off x="10399" y="4228"/>
                <a:ext cx="2328" cy="1292"/>
              </a:xfrm>
              <a:prstGeom prst="rect">
                <a:avLst/>
              </a:prstGeom>
              <a:solidFill>
                <a:srgbClr val="FECDCA"/>
              </a:solidFill>
              <a:ln w="12700" cmpd="sng">
                <a:solidFill>
                  <a:srgbClr val="FF0000">
                    <a:alpha val="100000"/>
                  </a:srgbClr>
                </a:solidFill>
                <a:prstDash val="solid"/>
                <a:miter lim="800000"/>
              </a:ln>
            </p:spPr>
          </p:sp>
          <p:sp>
            <p:nvSpPr>
              <p:cNvPr id="11" name="文本框 10"/>
              <p:cNvSpPr txBox="1"/>
              <p:nvPr userDrawn="1"/>
            </p:nvSpPr>
            <p:spPr>
              <a:xfrm>
                <a:off x="10155" y="4364"/>
                <a:ext cx="2816" cy="1016"/>
              </a:xfrm>
              <a:prstGeom prst="rect">
                <a:avLst/>
              </a:prstGeom>
            </p:spPr>
            <p:txBody>
              <a:bodyPr wrap="square" rtlCol="0" anchor="ctr">
                <a:noAutofit/>
              </a:bodyPr>
              <a:p>
                <a:pPr algn="ctr"/>
                <a:r>
                  <a:rPr lang="zh-CN" altLang="en-US" b="1">
                    <a:solidFill>
                      <a:srgbClr val="C00000"/>
                    </a:solidFill>
                  </a:rPr>
                  <a:t>吞吐量瓶颈严重</a:t>
                </a:r>
                <a:endParaRPr lang="zh-CN" altLang="en-US" b="1">
                  <a:solidFill>
                    <a:srgbClr val="C00000"/>
                  </a:solidFill>
                </a:endParaRPr>
              </a:p>
            </p:txBody>
          </p:sp>
        </p:grpSp>
        <p:grpSp>
          <p:nvGrpSpPr>
            <p:cNvPr id="21" name="组合 20"/>
            <p:cNvGrpSpPr/>
            <p:nvPr userDrawn="1"/>
          </p:nvGrpSpPr>
          <p:grpSpPr>
            <a:xfrm rot="0">
              <a:off x="11618" y="5663"/>
              <a:ext cx="2858" cy="901"/>
              <a:chOff x="10399" y="5666"/>
              <a:chExt cx="2328" cy="1291"/>
            </a:xfrm>
          </p:grpSpPr>
          <p:sp>
            <p:nvSpPr>
              <p:cNvPr id="8" name="Shape 13"/>
              <p:cNvSpPr/>
              <p:nvPr/>
            </p:nvSpPr>
            <p:spPr>
              <a:xfrm>
                <a:off x="10399" y="5666"/>
                <a:ext cx="2328" cy="1291"/>
              </a:xfrm>
              <a:prstGeom prst="rect">
                <a:avLst/>
              </a:prstGeom>
              <a:solidFill>
                <a:srgbClr val="FECDCA"/>
              </a:solidFill>
              <a:ln w="12700" cmpd="sng">
                <a:solidFill>
                  <a:srgbClr val="FF0000">
                    <a:alpha val="100000"/>
                  </a:srgbClr>
                </a:solidFill>
                <a:prstDash val="solid"/>
                <a:miter lim="800000"/>
              </a:ln>
            </p:spPr>
          </p:sp>
          <p:sp>
            <p:nvSpPr>
              <p:cNvPr id="12" name="文本框 11"/>
              <p:cNvSpPr txBox="1"/>
              <p:nvPr userDrawn="1"/>
            </p:nvSpPr>
            <p:spPr>
              <a:xfrm>
                <a:off x="10534" y="5804"/>
                <a:ext cx="2053" cy="1016"/>
              </a:xfrm>
              <a:prstGeom prst="rect">
                <a:avLst/>
              </a:prstGeom>
            </p:spPr>
            <p:txBody>
              <a:bodyPr wrap="square" rtlCol="0" anchor="ctr">
                <a:noAutofit/>
              </a:bodyPr>
              <a:p>
                <a:pPr algn="ctr"/>
                <a:r>
                  <a:rPr lang="zh-CN" altLang="en-US" b="1">
                    <a:solidFill>
                      <a:srgbClr val="C00000"/>
                    </a:solidFill>
                  </a:rPr>
                  <a:t>平均延迟增加</a:t>
                </a:r>
                <a:endParaRPr lang="zh-CN" altLang="en-US" b="1">
                  <a:solidFill>
                    <a:srgbClr val="C00000"/>
                  </a:solidFill>
                </a:endParaRPr>
              </a:p>
            </p:txBody>
          </p:sp>
        </p:grpSp>
        <p:sp>
          <p:nvSpPr>
            <p:cNvPr id="31" name="右弧形箭头 30"/>
            <p:cNvSpPr/>
            <p:nvPr userDrawn="1"/>
          </p:nvSpPr>
          <p:spPr>
            <a:xfrm>
              <a:off x="14767" y="3619"/>
              <a:ext cx="870" cy="1140"/>
            </a:xfrm>
            <a:prstGeom prst="curvedLeftArrow">
              <a:avLst/>
            </a:prstGeom>
            <a:solidFill>
              <a:srgbClr val="FECDCA">
                <a:alpha val="100000"/>
              </a:srgbClr>
            </a:solidFill>
            <a:ln>
              <a:solidFill>
                <a:schemeClr val="bg1">
                  <a:lumMod val="85000"/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5" name="右弧形箭头 34"/>
            <p:cNvSpPr/>
            <p:nvPr userDrawn="1"/>
          </p:nvSpPr>
          <p:spPr>
            <a:xfrm>
              <a:off x="14847" y="5162"/>
              <a:ext cx="870" cy="1140"/>
            </a:xfrm>
            <a:prstGeom prst="curvedLeftArrow">
              <a:avLst/>
            </a:prstGeom>
            <a:solidFill>
              <a:srgbClr val="FECDCA">
                <a:alpha val="100000"/>
              </a:srgbClr>
            </a:solidFill>
            <a:ln>
              <a:solidFill>
                <a:schemeClr val="bg1">
                  <a:lumMod val="85000"/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6" name="文本框 35"/>
            <p:cNvSpPr txBox="1"/>
            <p:nvPr userDrawn="1"/>
          </p:nvSpPr>
          <p:spPr>
            <a:xfrm>
              <a:off x="15717" y="3828"/>
              <a:ext cx="2685" cy="580"/>
            </a:xfrm>
            <a:prstGeom prst="rect">
              <a:avLst/>
            </a:prstGeom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rgbClr val="C00000"/>
                  </a:solidFill>
                </a:rPr>
                <a:t>并发查询增多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37" name="文本框 36"/>
            <p:cNvSpPr txBox="1"/>
            <p:nvPr userDrawn="1"/>
          </p:nvSpPr>
          <p:spPr>
            <a:xfrm>
              <a:off x="15717" y="5320"/>
              <a:ext cx="2640" cy="566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 b="1">
                  <a:solidFill>
                    <a:srgbClr val="C00000"/>
                  </a:solidFill>
                </a:rPr>
                <a:t>逐渐积累</a:t>
              </a:r>
              <a:r>
                <a:rPr lang="zh-CN" altLang="en-US" b="1">
                  <a:solidFill>
                    <a:srgbClr val="C00000"/>
                  </a:solidFill>
                  <a:cs typeface="Arial" panose="020B0604020202020204" pitchFamily="34" charset="0"/>
                </a:rPr>
                <a:t>请求</a:t>
              </a:r>
              <a:endParaRPr lang="zh-CN" altLang="en-US" b="1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燕尾形 6"/>
          <p:cNvSpPr/>
          <p:nvPr userDrawn="1"/>
        </p:nvSpPr>
        <p:spPr>
          <a:xfrm>
            <a:off x="2515469" y="4144010"/>
            <a:ext cx="7420182" cy="777240"/>
          </a:xfrm>
          <a:prstGeom prst="chevron">
            <a:avLst/>
          </a:prstGeom>
          <a:solidFill>
            <a:srgbClr val="FEE8C1">
              <a:alpha val="100000"/>
            </a:srgbClr>
          </a:solidFill>
          <a:ln w="12700" cmpd="sng">
            <a:noFill/>
            <a:prstDash val="solid"/>
            <a:miter lim="800000"/>
          </a:ln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9440" y="5152390"/>
            <a:ext cx="12201477" cy="1159542"/>
          </a:xfrm>
          <a:prstGeom prst="rect">
            <a:avLst/>
          </a:prstGeom>
          <a:solidFill>
            <a:srgbClr val="EFF6FF">
              <a:alpha val="100000"/>
            </a:srgbClr>
          </a:solidFill>
          <a:ln w="28575">
            <a:solidFill>
              <a:schemeClr val="accent1">
                <a:lumMod val="20000"/>
                <a:lumOff val="8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-9397" y="1106847"/>
            <a:ext cx="12201445" cy="0"/>
          </a:xfrm>
          <a:prstGeom prst="line">
            <a:avLst/>
          </a:prstGeom>
          <a:ln w="25400">
            <a:solidFill>
              <a:srgbClr val="0F3EA7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204848" y="4179295"/>
            <a:ext cx="6127209" cy="706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dirty="0">
                <a:latin typeface="+mn-lt"/>
                <a:ea typeface="+mn-ea"/>
                <a:cs typeface="+mn-cs"/>
              </a:rPr>
              <a:t>大家关注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同一个市场、同一批核心事件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。</a:t>
            </a:r>
            <a:endParaRPr lang="zh-CN" altLang="en-US" sz="2000" dirty="0">
              <a:latin typeface="+mn-lt"/>
              <a:ea typeface="+mn-ea"/>
              <a:cs typeface="+mn-cs"/>
            </a:endParaRPr>
          </a:p>
          <a:p>
            <a:pPr algn="ctr"/>
            <a:r>
              <a:rPr lang="zh-CN" altLang="en-US" sz="2000" dirty="0">
                <a:latin typeface="+mn-lt"/>
                <a:ea typeface="+mn-ea"/>
                <a:cs typeface="+mn-cs"/>
              </a:rPr>
              <a:t>业务逻辑本身就决定了查询之间必然有大量重叠。</a:t>
            </a:r>
            <a:endParaRPr lang="zh-CN" altLang="en-US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1290" y="5193959"/>
            <a:ext cx="11249457" cy="1076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问题重要性：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通过多查询优化来</a:t>
            </a:r>
            <a:r>
              <a:rPr lang="zh-CN" altLang="en-US" sz="32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消除冗余计算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，能够</a:t>
            </a:r>
            <a:r>
              <a:rPr lang="zh-CN" altLang="en-US" sz="32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显著提升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流处理引擎的</a:t>
            </a:r>
            <a:r>
              <a:rPr lang="zh-CN" altLang="en-US" sz="32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吞吐量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和整体</a:t>
            </a:r>
            <a:r>
              <a:rPr lang="zh-CN" altLang="en-US" sz="32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执行效率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。</a:t>
            </a:r>
            <a:endParaRPr lang="zh-CN" altLang="en-US" sz="3200" b="1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4711326" y="1402957"/>
            <a:ext cx="2759888" cy="2609703"/>
            <a:chOff x="6519" y="1900"/>
            <a:chExt cx="5760" cy="5232"/>
          </a:xfrm>
        </p:grpSpPr>
        <p:sp>
          <p:nvSpPr>
            <p:cNvPr id="10" name="Shape 9"/>
            <p:cNvSpPr/>
            <p:nvPr/>
          </p:nvSpPr>
          <p:spPr>
            <a:xfrm>
              <a:off x="6519" y="1900"/>
              <a:ext cx="5760" cy="523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6" name="Shape 10"/>
            <p:cNvSpPr/>
            <p:nvPr/>
          </p:nvSpPr>
          <p:spPr>
            <a:xfrm>
              <a:off x="6519" y="1900"/>
              <a:ext cx="5760" cy="1056"/>
            </a:xfrm>
            <a:prstGeom prst="rect">
              <a:avLst/>
            </a:prstGeom>
            <a:solidFill>
              <a:srgbClr val="1E3A5F"/>
            </a:solidFill>
          </p:spPr>
        </p:sp>
        <p:pic>
          <p:nvPicPr>
            <p:cNvPr id="17" name="Image 4" descr="preencoded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807" y="2054"/>
              <a:ext cx="672" cy="672"/>
            </a:xfrm>
            <a:prstGeom prst="rect">
              <a:avLst/>
            </a:prstGeom>
          </p:spPr>
        </p:pic>
        <p:sp>
          <p:nvSpPr>
            <p:cNvPr id="18" name="Text 11"/>
            <p:cNvSpPr/>
            <p:nvPr/>
          </p:nvSpPr>
          <p:spPr>
            <a:xfrm>
              <a:off x="7575" y="1996"/>
              <a:ext cx="4416" cy="86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35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SAP ESP 流处理引擎</a:t>
              </a:r>
              <a:endParaRPr lang="en-US" sz="1735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Shape 12"/>
            <p:cNvSpPr/>
            <p:nvPr/>
          </p:nvSpPr>
          <p:spPr>
            <a:xfrm>
              <a:off x="6903" y="3244"/>
              <a:ext cx="4992" cy="730"/>
            </a:xfrm>
            <a:prstGeom prst="rect">
              <a:avLst/>
            </a:prstGeom>
            <a:solidFill>
              <a:srgbClr val="DBEAFE"/>
            </a:solidFill>
          </p:spPr>
        </p:sp>
        <p:sp>
          <p:nvSpPr>
            <p:cNvPr id="20" name="Text 13"/>
            <p:cNvSpPr/>
            <p:nvPr/>
          </p:nvSpPr>
          <p:spPr>
            <a:xfrm>
              <a:off x="6903" y="3244"/>
              <a:ext cx="4992" cy="7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65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股价变动事件</a:t>
              </a:r>
              <a:endParaRPr lang="en-US" sz="1465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Shape 14"/>
            <p:cNvSpPr/>
            <p:nvPr/>
          </p:nvSpPr>
          <p:spPr>
            <a:xfrm>
              <a:off x="6903" y="4204"/>
              <a:ext cx="4992" cy="730"/>
            </a:xfrm>
            <a:prstGeom prst="rect">
              <a:avLst/>
            </a:prstGeom>
            <a:solidFill>
              <a:srgbClr val="FEF3C7"/>
            </a:solidFill>
          </p:spPr>
        </p:sp>
        <p:sp>
          <p:nvSpPr>
            <p:cNvPr id="22" name="Text 15"/>
            <p:cNvSpPr/>
            <p:nvPr/>
          </p:nvSpPr>
          <p:spPr>
            <a:xfrm>
              <a:off x="6903" y="4204"/>
              <a:ext cx="4992" cy="7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65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成交量事件</a:t>
              </a:r>
              <a:endParaRPr lang="en-US" sz="1465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Shape 16"/>
            <p:cNvSpPr/>
            <p:nvPr/>
          </p:nvSpPr>
          <p:spPr>
            <a:xfrm>
              <a:off x="6903" y="5164"/>
              <a:ext cx="4992" cy="730"/>
            </a:xfrm>
            <a:prstGeom prst="rect">
              <a:avLst/>
            </a:prstGeom>
            <a:solidFill>
              <a:srgbClr val="FCE7F3"/>
            </a:solidFill>
          </p:spPr>
        </p:sp>
        <p:sp>
          <p:nvSpPr>
            <p:cNvPr id="24" name="Text 17"/>
            <p:cNvSpPr/>
            <p:nvPr/>
          </p:nvSpPr>
          <p:spPr>
            <a:xfrm>
              <a:off x="6903" y="5164"/>
              <a:ext cx="4992" cy="7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65" b="1" dirty="0">
                  <a:solidFill>
                    <a:srgbClr val="9D174D"/>
                  </a:solidFill>
                  <a:latin typeface="+mn-lt"/>
                  <a:ea typeface="+mn-ea"/>
                  <a:cs typeface="+mn-cs"/>
                </a:rPr>
                <a:t>波动率事件</a:t>
              </a:r>
              <a:endParaRPr lang="en-US" sz="1465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Shape 18"/>
            <p:cNvSpPr/>
            <p:nvPr/>
          </p:nvSpPr>
          <p:spPr>
            <a:xfrm>
              <a:off x="6903" y="6124"/>
              <a:ext cx="4992" cy="730"/>
            </a:xfrm>
            <a:prstGeom prst="rect">
              <a:avLst/>
            </a:prstGeom>
            <a:solidFill>
              <a:srgbClr val="D1FAE5"/>
            </a:solidFill>
          </p:spPr>
        </p:sp>
        <p:sp>
          <p:nvSpPr>
            <p:cNvPr id="26" name="Text 19"/>
            <p:cNvSpPr/>
            <p:nvPr/>
          </p:nvSpPr>
          <p:spPr>
            <a:xfrm>
              <a:off x="6903" y="6124"/>
              <a:ext cx="4992" cy="7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65" b="1" dirty="0">
                  <a:solidFill>
                    <a:srgbClr val="065F46"/>
                  </a:solidFill>
                  <a:latin typeface="+mn-lt"/>
                  <a:ea typeface="+mn-ea"/>
                  <a:cs typeface="+mn-cs"/>
                </a:rPr>
                <a:t>大单交易事件</a:t>
              </a:r>
              <a:endParaRPr lang="en-US" sz="1465" dirty="0"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组合 28"/>
          <p:cNvGrpSpPr/>
          <p:nvPr userDrawn="1"/>
        </p:nvGrpSpPr>
        <p:grpSpPr>
          <a:xfrm>
            <a:off x="687108" y="1613401"/>
            <a:ext cx="1036320" cy="975360"/>
            <a:chOff x="768" y="1824"/>
            <a:chExt cx="1632" cy="1536"/>
          </a:xfrm>
        </p:grpSpPr>
        <p:sp>
          <p:nvSpPr>
            <p:cNvPr id="12" name="Shape 1"/>
            <p:cNvSpPr/>
            <p:nvPr/>
          </p:nvSpPr>
          <p:spPr>
            <a:xfrm>
              <a:off x="1056" y="1824"/>
              <a:ext cx="1056" cy="1056"/>
            </a:xfrm>
            <a:prstGeom prst="ellipse">
              <a:avLst/>
            </a:prstGeom>
            <a:solidFill>
              <a:srgbClr val="DBEAFE"/>
            </a:solidFill>
          </p:spPr>
        </p:sp>
        <p:pic>
          <p:nvPicPr>
            <p:cNvPr id="13" name="Image 0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0" y="1958"/>
              <a:ext cx="768" cy="768"/>
            </a:xfrm>
            <a:prstGeom prst="rect">
              <a:avLst/>
            </a:prstGeom>
          </p:spPr>
        </p:pic>
        <p:sp>
          <p:nvSpPr>
            <p:cNvPr id="14" name="Text 2"/>
            <p:cNvSpPr/>
            <p:nvPr/>
          </p:nvSpPr>
          <p:spPr>
            <a:xfrm>
              <a:off x="768" y="2938"/>
              <a:ext cx="1632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分析师 A</a:t>
              </a:r>
              <a:endParaRPr lang="en-US" sz="1200" dirty="0"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组合 32"/>
          <p:cNvGrpSpPr/>
          <p:nvPr userDrawn="1"/>
        </p:nvGrpSpPr>
        <p:grpSpPr>
          <a:xfrm>
            <a:off x="687145" y="2945846"/>
            <a:ext cx="1036320" cy="975360"/>
            <a:chOff x="768" y="3744"/>
            <a:chExt cx="1632" cy="1536"/>
          </a:xfrm>
        </p:grpSpPr>
        <p:sp>
          <p:nvSpPr>
            <p:cNvPr id="30" name="Shape 3"/>
            <p:cNvSpPr/>
            <p:nvPr/>
          </p:nvSpPr>
          <p:spPr>
            <a:xfrm>
              <a:off x="1056" y="3744"/>
              <a:ext cx="1056" cy="1056"/>
            </a:xfrm>
            <a:prstGeom prst="ellipse">
              <a:avLst/>
            </a:prstGeom>
            <a:solidFill>
              <a:srgbClr val="DBEAFE"/>
            </a:solidFill>
          </p:spPr>
        </p:sp>
        <p:pic>
          <p:nvPicPr>
            <p:cNvPr id="31" name="Image 1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0" y="3878"/>
              <a:ext cx="768" cy="768"/>
            </a:xfrm>
            <a:prstGeom prst="rect">
              <a:avLst/>
            </a:prstGeom>
          </p:spPr>
        </p:pic>
        <p:sp>
          <p:nvSpPr>
            <p:cNvPr id="32" name="Text 4"/>
            <p:cNvSpPr/>
            <p:nvPr/>
          </p:nvSpPr>
          <p:spPr>
            <a:xfrm>
              <a:off x="768" y="4858"/>
              <a:ext cx="1632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分析师 B</a:t>
              </a:r>
              <a:endParaRPr lang="en-US" sz="1200" dirty="0"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474923" y="1660174"/>
            <a:ext cx="1036320" cy="975360"/>
            <a:chOff x="768" y="5664"/>
            <a:chExt cx="1632" cy="1536"/>
          </a:xfrm>
        </p:grpSpPr>
        <p:sp>
          <p:nvSpPr>
            <p:cNvPr id="34" name="Shape 5"/>
            <p:cNvSpPr/>
            <p:nvPr/>
          </p:nvSpPr>
          <p:spPr>
            <a:xfrm>
              <a:off x="1056" y="5664"/>
              <a:ext cx="1056" cy="1056"/>
            </a:xfrm>
            <a:prstGeom prst="ellipse">
              <a:avLst/>
            </a:prstGeom>
            <a:solidFill>
              <a:srgbClr val="DBEAFE"/>
            </a:solidFill>
          </p:spPr>
        </p:sp>
        <p:pic>
          <p:nvPicPr>
            <p:cNvPr id="35" name="Image 2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0" y="5798"/>
              <a:ext cx="768" cy="768"/>
            </a:xfrm>
            <a:prstGeom prst="rect">
              <a:avLst/>
            </a:prstGeom>
          </p:spPr>
        </p:pic>
        <p:sp>
          <p:nvSpPr>
            <p:cNvPr id="36" name="Text 6"/>
            <p:cNvSpPr/>
            <p:nvPr/>
          </p:nvSpPr>
          <p:spPr>
            <a:xfrm>
              <a:off x="768" y="6778"/>
              <a:ext cx="1632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分析师 C</a:t>
              </a:r>
              <a:endParaRPr lang="en-US" sz="1200" dirty="0"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组合 40"/>
          <p:cNvGrpSpPr/>
          <p:nvPr userDrawn="1"/>
        </p:nvGrpSpPr>
        <p:grpSpPr>
          <a:xfrm>
            <a:off x="10474934" y="2951977"/>
            <a:ext cx="1036320" cy="975360"/>
            <a:chOff x="768" y="7584"/>
            <a:chExt cx="1632" cy="1536"/>
          </a:xfrm>
        </p:grpSpPr>
        <p:sp>
          <p:nvSpPr>
            <p:cNvPr id="38" name="Shape 7"/>
            <p:cNvSpPr/>
            <p:nvPr/>
          </p:nvSpPr>
          <p:spPr>
            <a:xfrm>
              <a:off x="1056" y="7584"/>
              <a:ext cx="1056" cy="1056"/>
            </a:xfrm>
            <a:prstGeom prst="ellipse">
              <a:avLst/>
            </a:prstGeom>
            <a:solidFill>
              <a:srgbClr val="DBEAFE"/>
            </a:solidFill>
          </p:spPr>
        </p:sp>
        <p:pic>
          <p:nvPicPr>
            <p:cNvPr id="39" name="Image 3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0" y="7718"/>
              <a:ext cx="768" cy="768"/>
            </a:xfrm>
            <a:prstGeom prst="rect">
              <a:avLst/>
            </a:prstGeom>
          </p:spPr>
        </p:pic>
        <p:sp>
          <p:nvSpPr>
            <p:cNvPr id="40" name="Text 8"/>
            <p:cNvSpPr/>
            <p:nvPr/>
          </p:nvSpPr>
          <p:spPr>
            <a:xfrm>
              <a:off x="768" y="8698"/>
              <a:ext cx="1632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分析师 D</a:t>
              </a:r>
              <a:endParaRPr lang="en-US" sz="1200" dirty="0"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组合 44"/>
          <p:cNvGrpSpPr/>
          <p:nvPr userDrawn="1"/>
        </p:nvGrpSpPr>
        <p:grpSpPr>
          <a:xfrm>
            <a:off x="1607778" y="1795577"/>
            <a:ext cx="3084379" cy="387056"/>
            <a:chOff x="2688" y="1920"/>
            <a:chExt cx="9696" cy="768"/>
          </a:xfrm>
        </p:grpSpPr>
        <p:sp>
          <p:nvSpPr>
            <p:cNvPr id="42" name="Shape 22"/>
            <p:cNvSpPr/>
            <p:nvPr/>
          </p:nvSpPr>
          <p:spPr>
            <a:xfrm>
              <a:off x="2688" y="2342"/>
              <a:ext cx="9696" cy="0"/>
            </a:xfrm>
            <a:prstGeom prst="line">
              <a:avLst/>
            </a:prstGeom>
            <a:noFill/>
            <a:ln w="22860">
              <a:solidFill>
                <a:srgbClr val="3B82F6"/>
              </a:solidFill>
              <a:prstDash val="solid"/>
              <a:tailEnd type="triangle"/>
            </a:ln>
          </p:spPr>
        </p:sp>
        <p:sp>
          <p:nvSpPr>
            <p:cNvPr id="43" name="Shape 23"/>
            <p:cNvSpPr/>
            <p:nvPr/>
          </p:nvSpPr>
          <p:spPr>
            <a:xfrm>
              <a:off x="3840" y="1920"/>
              <a:ext cx="6912" cy="768"/>
            </a:xfrm>
            <a:prstGeom prst="rect">
              <a:avLst/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44" name="Text 24"/>
            <p:cNvSpPr/>
            <p:nvPr/>
          </p:nvSpPr>
          <p:spPr>
            <a:xfrm>
              <a:off x="4032" y="1958"/>
              <a:ext cx="6528" cy="6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股价&gt;150 AND 成交量突增</a:t>
              </a:r>
              <a:endParaRPr lang="en-US" sz="1200" dirty="0"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1607737" y="3074273"/>
            <a:ext cx="3084379" cy="387056"/>
            <a:chOff x="2688" y="1920"/>
            <a:chExt cx="9696" cy="768"/>
          </a:xfrm>
        </p:grpSpPr>
        <p:sp>
          <p:nvSpPr>
            <p:cNvPr id="47" name="Shape 22"/>
            <p:cNvSpPr/>
            <p:nvPr/>
          </p:nvSpPr>
          <p:spPr>
            <a:xfrm>
              <a:off x="2688" y="2342"/>
              <a:ext cx="9696" cy="0"/>
            </a:xfrm>
            <a:prstGeom prst="line">
              <a:avLst/>
            </a:prstGeom>
            <a:noFill/>
            <a:ln w="22860">
              <a:solidFill>
                <a:srgbClr val="3B82F6"/>
              </a:solidFill>
              <a:prstDash val="solid"/>
              <a:tailEnd type="triangle"/>
            </a:ln>
          </p:spPr>
        </p:sp>
        <p:sp>
          <p:nvSpPr>
            <p:cNvPr id="48" name="Shape 23"/>
            <p:cNvSpPr/>
            <p:nvPr/>
          </p:nvSpPr>
          <p:spPr>
            <a:xfrm>
              <a:off x="3840" y="1920"/>
              <a:ext cx="6912" cy="768"/>
            </a:xfrm>
            <a:prstGeom prst="rect">
              <a:avLst/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49" name="Text 24"/>
            <p:cNvSpPr/>
            <p:nvPr/>
          </p:nvSpPr>
          <p:spPr>
            <a:xfrm>
              <a:off x="4032" y="1958"/>
              <a:ext cx="6528" cy="6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股价&gt;150 AND 波动率</a:t>
              </a:r>
              <a:r>
                <a:rPr lang="en-US" altLang="zh-CN" sz="1200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&gt;</a:t>
              </a:r>
              <a:r>
                <a:rPr lang="en-US" sz="1200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30%</a:t>
              </a:r>
              <a:endParaRPr lang="en-US" sz="1200"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组合 49"/>
          <p:cNvGrpSpPr/>
          <p:nvPr userDrawn="1"/>
        </p:nvGrpSpPr>
        <p:grpSpPr>
          <a:xfrm>
            <a:off x="7517875" y="1782493"/>
            <a:ext cx="3084379" cy="387056"/>
            <a:chOff x="2688" y="1920"/>
            <a:chExt cx="9696" cy="768"/>
          </a:xfrm>
        </p:grpSpPr>
        <p:sp>
          <p:nvSpPr>
            <p:cNvPr id="51" name="Shape 22"/>
            <p:cNvSpPr/>
            <p:nvPr/>
          </p:nvSpPr>
          <p:spPr>
            <a:xfrm>
              <a:off x="2688" y="2342"/>
              <a:ext cx="9696" cy="0"/>
            </a:xfrm>
            <a:prstGeom prst="line">
              <a:avLst/>
            </a:prstGeom>
            <a:noFill/>
            <a:ln w="22860">
              <a:solidFill>
                <a:srgbClr val="3B82F6"/>
              </a:solidFill>
              <a:prstDash val="solid"/>
              <a:headEnd type="triangle"/>
              <a:tailEnd type="none"/>
            </a:ln>
          </p:spPr>
        </p:sp>
        <p:sp>
          <p:nvSpPr>
            <p:cNvPr id="52" name="Shape 23"/>
            <p:cNvSpPr/>
            <p:nvPr/>
          </p:nvSpPr>
          <p:spPr>
            <a:xfrm>
              <a:off x="3840" y="1920"/>
              <a:ext cx="6912" cy="768"/>
            </a:xfrm>
            <a:prstGeom prst="rect">
              <a:avLst/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53" name="Text 24"/>
            <p:cNvSpPr/>
            <p:nvPr/>
          </p:nvSpPr>
          <p:spPr>
            <a:xfrm>
              <a:off x="4032" y="1958"/>
              <a:ext cx="6528" cy="6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35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股价&gt;150 </a:t>
              </a:r>
              <a:endParaRPr lang="en-US" sz="1335" dirty="0"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组合 53"/>
          <p:cNvGrpSpPr/>
          <p:nvPr userDrawn="1"/>
        </p:nvGrpSpPr>
        <p:grpSpPr>
          <a:xfrm>
            <a:off x="7517920" y="3074590"/>
            <a:ext cx="3084379" cy="387056"/>
            <a:chOff x="2688" y="1920"/>
            <a:chExt cx="9696" cy="768"/>
          </a:xfrm>
        </p:grpSpPr>
        <p:sp>
          <p:nvSpPr>
            <p:cNvPr id="55" name="Shape 22"/>
            <p:cNvSpPr/>
            <p:nvPr/>
          </p:nvSpPr>
          <p:spPr>
            <a:xfrm>
              <a:off x="2688" y="2342"/>
              <a:ext cx="9696" cy="0"/>
            </a:xfrm>
            <a:prstGeom prst="line">
              <a:avLst/>
            </a:prstGeom>
            <a:noFill/>
            <a:ln w="22860">
              <a:solidFill>
                <a:srgbClr val="3B82F6"/>
              </a:solidFill>
              <a:prstDash val="solid"/>
              <a:headEnd type="triangle"/>
              <a:tailEnd type="none"/>
            </a:ln>
          </p:spPr>
        </p:sp>
        <p:sp>
          <p:nvSpPr>
            <p:cNvPr id="56" name="Shape 23"/>
            <p:cNvSpPr/>
            <p:nvPr/>
          </p:nvSpPr>
          <p:spPr>
            <a:xfrm>
              <a:off x="3840" y="1920"/>
              <a:ext cx="6912" cy="768"/>
            </a:xfrm>
            <a:prstGeom prst="rect">
              <a:avLst/>
            </a:prstGeom>
            <a:solidFill>
              <a:srgbClr val="EFF6FF"/>
            </a:solidFill>
            <a:ln w="12700">
              <a:solidFill>
                <a:srgbClr val="BFDBFE"/>
              </a:solidFill>
              <a:prstDash val="solid"/>
            </a:ln>
          </p:spPr>
        </p:sp>
        <p:sp>
          <p:nvSpPr>
            <p:cNvPr id="57" name="Text 24"/>
            <p:cNvSpPr/>
            <p:nvPr/>
          </p:nvSpPr>
          <p:spPr>
            <a:xfrm>
              <a:off x="4032" y="1958"/>
              <a:ext cx="6528" cy="69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CN" altLang="en-US" sz="1200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波动率&gt;30% </a:t>
              </a:r>
              <a:r>
                <a:rPr lang="en-US" altLang="zh-CN" sz="1200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AND </a:t>
              </a:r>
              <a:r>
                <a:rPr lang="zh-CN" altLang="en-US" sz="1200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大单买入</a:t>
              </a:r>
              <a:endParaRPr lang="en-US" sz="1200" dirty="0">
                <a:solidFill>
                  <a:srgbClr val="1E3A5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" name="文本框 3"/>
          <p:cNvSpPr txBox="1"/>
          <p:nvPr userDrawn="1"/>
        </p:nvSpPr>
        <p:spPr>
          <a:xfrm>
            <a:off x="0" y="263992"/>
            <a:ext cx="12192048" cy="842813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Multi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Query Optimization for Complex Event Processing in SAP ESP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MOTTO</a:t>
            </a:r>
            <a:r>
              <a:rPr lang="en-US" altLang="zh-CN" sz="2400" b="1" dirty="0">
                <a:solidFill>
                  <a:srgbClr val="0339C4"/>
                </a:solidFill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SAP ESP 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中旨在提升大量并发模式查询的性能的多查询优化器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-9397" y="1106847"/>
            <a:ext cx="12201445" cy="0"/>
          </a:xfrm>
          <a:prstGeom prst="line">
            <a:avLst/>
          </a:prstGeom>
          <a:ln w="25400">
            <a:solidFill>
              <a:srgbClr val="0F3EA7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76324" y="1364885"/>
            <a:ext cx="108515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2060"/>
                </a:solidFill>
                <a:latin typeface="+mn-lt"/>
                <a:ea typeface="+mn-ea"/>
                <a:cs typeface="+mn-cs"/>
              </a:rPr>
              <a:t>相关工作</a:t>
            </a:r>
            <a:endParaRPr lang="zh-CN" altLang="en-US" sz="3200" b="1" dirty="0">
              <a:solidFill>
                <a:srgbClr val="00206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hape 0"/>
          <p:cNvSpPr/>
          <p:nvPr/>
        </p:nvSpPr>
        <p:spPr>
          <a:xfrm>
            <a:off x="448117" y="2035249"/>
            <a:ext cx="3413760" cy="451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C5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1"/>
          <p:cNvSpPr/>
          <p:nvPr/>
        </p:nvSpPr>
        <p:spPr>
          <a:xfrm>
            <a:off x="472501" y="2059633"/>
            <a:ext cx="3364992" cy="2657856"/>
          </a:xfrm>
          <a:prstGeom prst="rect">
            <a:avLst/>
          </a:prstGeom>
          <a:solidFill>
            <a:srgbClr val="EEF4FF"/>
          </a:solidFill>
        </p:spPr>
      </p:sp>
      <p:sp>
        <p:nvSpPr>
          <p:cNvPr id="9" name="Shape 2"/>
          <p:cNvSpPr/>
          <p:nvPr/>
        </p:nvSpPr>
        <p:spPr>
          <a:xfrm>
            <a:off x="728533" y="2535121"/>
            <a:ext cx="2852928" cy="463296"/>
          </a:xfrm>
          <a:prstGeom prst="rect">
            <a:avLst/>
          </a:prstGeom>
          <a:solidFill>
            <a:srgbClr val="D1E0FF"/>
          </a:solidFill>
        </p:spPr>
      </p:sp>
      <p:sp>
        <p:nvSpPr>
          <p:cNvPr id="10" name="Text 3"/>
          <p:cNvSpPr/>
          <p:nvPr/>
        </p:nvSpPr>
        <p:spPr>
          <a:xfrm>
            <a:off x="728533" y="2535121"/>
            <a:ext cx="2852928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1849A9"/>
                </a:solidFill>
                <a:latin typeface="+mn-lt"/>
                <a:ea typeface="+mn-ea"/>
                <a:cs typeface="+mn-cs"/>
              </a:rPr>
              <a:t>IBM System-S</a:t>
            </a:r>
            <a:endParaRPr lang="en-US" sz="1465" dirty="0">
              <a:latin typeface="+mn-lt"/>
              <a:ea typeface="+mn-ea"/>
              <a:cs typeface="+mn-cs"/>
            </a:endParaRPr>
          </a:p>
        </p:txBody>
      </p:sp>
      <p:sp>
        <p:nvSpPr>
          <p:cNvPr id="11" name="Shape 4"/>
          <p:cNvSpPr/>
          <p:nvPr/>
        </p:nvSpPr>
        <p:spPr>
          <a:xfrm>
            <a:off x="691957" y="3144721"/>
            <a:ext cx="2926080" cy="463296"/>
          </a:xfrm>
          <a:prstGeom prst="rect">
            <a:avLst/>
          </a:prstGeom>
          <a:solidFill>
            <a:srgbClr val="D1E0FF"/>
          </a:solidFill>
        </p:spPr>
      </p:sp>
      <p:sp>
        <p:nvSpPr>
          <p:cNvPr id="12" name="Text 5"/>
          <p:cNvSpPr/>
          <p:nvPr/>
        </p:nvSpPr>
        <p:spPr>
          <a:xfrm>
            <a:off x="691957" y="3144721"/>
            <a:ext cx="292608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1849A9"/>
                </a:solidFill>
                <a:latin typeface="+mn-lt"/>
                <a:ea typeface="+mn-ea"/>
                <a:cs typeface="+mn-cs"/>
              </a:rPr>
              <a:t>StreamInsight</a:t>
            </a:r>
            <a:endParaRPr lang="en-US" sz="1465" dirty="0">
              <a:latin typeface="+mn-lt"/>
              <a:ea typeface="+mn-ea"/>
              <a:cs typeface="+mn-cs"/>
            </a:endParaRPr>
          </a:p>
        </p:txBody>
      </p:sp>
      <p:sp>
        <p:nvSpPr>
          <p:cNvPr id="13" name="Shape 6"/>
          <p:cNvSpPr/>
          <p:nvPr/>
        </p:nvSpPr>
        <p:spPr>
          <a:xfrm>
            <a:off x="1143061" y="3754321"/>
            <a:ext cx="2023872" cy="463296"/>
          </a:xfrm>
          <a:prstGeom prst="rect">
            <a:avLst/>
          </a:prstGeom>
          <a:solidFill>
            <a:srgbClr val="D1E0FF"/>
          </a:solidFill>
        </p:spPr>
      </p:sp>
      <p:sp>
        <p:nvSpPr>
          <p:cNvPr id="14" name="Text 7"/>
          <p:cNvSpPr/>
          <p:nvPr/>
        </p:nvSpPr>
        <p:spPr>
          <a:xfrm>
            <a:off x="1143061" y="3754321"/>
            <a:ext cx="2023872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1849A9"/>
                </a:solidFill>
                <a:latin typeface="+mn-lt"/>
                <a:ea typeface="+mn-ea"/>
                <a:cs typeface="+mn-cs"/>
              </a:rPr>
              <a:t>HP CHAOS</a:t>
            </a:r>
            <a:endParaRPr lang="en-US" sz="1465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630997" y="4717489"/>
            <a:ext cx="3048000" cy="0"/>
          </a:xfrm>
          <a:prstGeom prst="line">
            <a:avLst/>
          </a:prstGeom>
          <a:noFill/>
          <a:ln w="19050">
            <a:solidFill>
              <a:srgbClr val="B0B5BF"/>
            </a:solidFill>
            <a:prstDash val="dash"/>
          </a:ln>
        </p:spPr>
      </p:sp>
      <p:sp>
        <p:nvSpPr>
          <p:cNvPr id="16" name="Text 9"/>
          <p:cNvSpPr/>
          <p:nvPr/>
        </p:nvSpPr>
        <p:spPr>
          <a:xfrm>
            <a:off x="691957" y="4961329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dirty="0">
                <a:solidFill>
                  <a:srgbClr val="E04545"/>
                </a:solidFill>
                <a:latin typeface="+mn-lt"/>
                <a:ea typeface="+mn-ea"/>
                <a:cs typeface="+mn-cs"/>
              </a:rPr>
              <a:t>⚠</a:t>
            </a:r>
            <a:endParaRPr lang="en-US" sz="1865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996757" y="4961329"/>
            <a:ext cx="25603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467"/>
                </a:solidFill>
                <a:latin typeface="+mn-lt"/>
                <a:ea typeface="+mn-ea"/>
                <a:cs typeface="+mn-cs"/>
              </a:rPr>
              <a:t>单一的查询优化策略忽略了多个查询之间的共享机会</a:t>
            </a:r>
            <a:endParaRPr lang="en-US" sz="1400" dirty="0">
              <a:latin typeface="+mn-lt"/>
              <a:ea typeface="+mn-ea"/>
              <a:cs typeface="+mn-cs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4485408" y="2035202"/>
            <a:ext cx="3413760" cy="451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C5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509792" y="2059586"/>
            <a:ext cx="3364992" cy="2657856"/>
          </a:xfrm>
          <a:prstGeom prst="rect">
            <a:avLst/>
          </a:prstGeom>
          <a:solidFill>
            <a:srgbClr val="FEF3F2"/>
          </a:solidFill>
        </p:spPr>
      </p:sp>
      <p:sp>
        <p:nvSpPr>
          <p:cNvPr id="20" name="Shape 13"/>
          <p:cNvSpPr/>
          <p:nvPr/>
        </p:nvSpPr>
        <p:spPr>
          <a:xfrm>
            <a:off x="5180352" y="2839874"/>
            <a:ext cx="2023872" cy="463296"/>
          </a:xfrm>
          <a:prstGeom prst="rect">
            <a:avLst/>
          </a:prstGeom>
          <a:solidFill>
            <a:srgbClr val="FECDCA"/>
          </a:solidFill>
        </p:spPr>
      </p:sp>
      <p:sp>
        <p:nvSpPr>
          <p:cNvPr id="21" name="Text 14"/>
          <p:cNvSpPr/>
          <p:nvPr/>
        </p:nvSpPr>
        <p:spPr>
          <a:xfrm>
            <a:off x="5180352" y="2839874"/>
            <a:ext cx="2023872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B42318"/>
                </a:solidFill>
                <a:latin typeface="+mn-lt"/>
                <a:ea typeface="+mn-ea"/>
                <a:cs typeface="+mn-cs"/>
              </a:rPr>
              <a:t>HP CHAOS</a:t>
            </a:r>
            <a:endParaRPr lang="en-US" sz="1465" dirty="0">
              <a:latin typeface="+mn-lt"/>
              <a:ea typeface="+mn-ea"/>
              <a:cs typeface="+mn-cs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4765824" y="3449474"/>
            <a:ext cx="2852928" cy="463296"/>
          </a:xfrm>
          <a:prstGeom prst="rect">
            <a:avLst/>
          </a:prstGeom>
          <a:solidFill>
            <a:srgbClr val="FECDCA"/>
          </a:solidFill>
        </p:spPr>
      </p:sp>
      <p:sp>
        <p:nvSpPr>
          <p:cNvPr id="24" name="Text 16"/>
          <p:cNvSpPr/>
          <p:nvPr/>
        </p:nvSpPr>
        <p:spPr>
          <a:xfrm>
            <a:off x="4765824" y="3449474"/>
            <a:ext cx="2852928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B42318"/>
                </a:solidFill>
                <a:latin typeface="+mn-lt"/>
                <a:ea typeface="+mn-ea"/>
                <a:cs typeface="+mn-cs"/>
              </a:rPr>
              <a:t>在线分析处理（OLAP）</a:t>
            </a:r>
            <a:endParaRPr lang="en-US" sz="1465" dirty="0">
              <a:latin typeface="+mn-lt"/>
              <a:ea typeface="+mn-ea"/>
              <a:cs typeface="+mn-cs"/>
            </a:endParaRPr>
          </a:p>
        </p:txBody>
      </p:sp>
      <p:sp>
        <p:nvSpPr>
          <p:cNvPr id="31" name="Shape 17"/>
          <p:cNvSpPr/>
          <p:nvPr/>
        </p:nvSpPr>
        <p:spPr>
          <a:xfrm>
            <a:off x="4668288" y="4717442"/>
            <a:ext cx="3048000" cy="0"/>
          </a:xfrm>
          <a:prstGeom prst="line">
            <a:avLst/>
          </a:prstGeom>
          <a:noFill/>
          <a:ln w="19050">
            <a:solidFill>
              <a:srgbClr val="B0B5BF"/>
            </a:solidFill>
            <a:prstDash val="dash"/>
          </a:ln>
        </p:spPr>
      </p:sp>
      <p:sp>
        <p:nvSpPr>
          <p:cNvPr id="32" name="Text 18"/>
          <p:cNvSpPr/>
          <p:nvPr/>
        </p:nvSpPr>
        <p:spPr>
          <a:xfrm>
            <a:off x="4729248" y="496128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dirty="0">
                <a:solidFill>
                  <a:srgbClr val="E04545"/>
                </a:solidFill>
                <a:latin typeface="+mn-lt"/>
                <a:ea typeface="+mn-ea"/>
                <a:cs typeface="+mn-cs"/>
              </a:rPr>
              <a:t>⚠</a:t>
            </a:r>
            <a:endParaRPr lang="en-US" sz="1865" dirty="0">
              <a:latin typeface="+mn-lt"/>
              <a:ea typeface="+mn-ea"/>
              <a:cs typeface="+mn-cs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5034048" y="4961282"/>
            <a:ext cx="25603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467"/>
                </a:solidFill>
                <a:latin typeface="+mn-lt"/>
                <a:ea typeface="+mn-ea"/>
                <a:cs typeface="+mn-cs"/>
              </a:rPr>
              <a:t>在实现复杂查询工作负载中的</a:t>
            </a:r>
            <a:endParaRPr lang="en-US" sz="1400" dirty="0">
              <a:solidFill>
                <a:srgbClr val="475467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467"/>
                </a:solidFill>
                <a:latin typeface="+mn-lt"/>
                <a:ea typeface="+mn-ea"/>
                <a:cs typeface="+mn-cs"/>
              </a:rPr>
              <a:t>共享机会方面存在不足</a:t>
            </a:r>
            <a:endParaRPr lang="en-US" sz="1400" dirty="0">
              <a:latin typeface="+mn-lt"/>
              <a:ea typeface="+mn-ea"/>
              <a:cs typeface="+mn-cs"/>
            </a:endParaRPr>
          </a:p>
        </p:txBody>
      </p:sp>
      <p:sp>
        <p:nvSpPr>
          <p:cNvPr id="34" name="Shape 20"/>
          <p:cNvSpPr/>
          <p:nvPr/>
        </p:nvSpPr>
        <p:spPr>
          <a:xfrm>
            <a:off x="8519689" y="2035202"/>
            <a:ext cx="3413760" cy="4511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C5C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1"/>
          <p:cNvSpPr/>
          <p:nvPr/>
        </p:nvSpPr>
        <p:spPr>
          <a:xfrm>
            <a:off x="8544073" y="2059586"/>
            <a:ext cx="3364992" cy="2657856"/>
          </a:xfrm>
          <a:prstGeom prst="rect">
            <a:avLst/>
          </a:prstGeom>
          <a:solidFill>
            <a:srgbClr val="ECFDF3"/>
          </a:solidFill>
        </p:spPr>
      </p:sp>
      <p:sp>
        <p:nvSpPr>
          <p:cNvPr id="36" name="Shape 22"/>
          <p:cNvSpPr/>
          <p:nvPr/>
        </p:nvSpPr>
        <p:spPr>
          <a:xfrm>
            <a:off x="8903737" y="2535074"/>
            <a:ext cx="2645664" cy="463296"/>
          </a:xfrm>
          <a:prstGeom prst="rect">
            <a:avLst/>
          </a:prstGeom>
          <a:solidFill>
            <a:srgbClr val="ABEFC6"/>
          </a:solidFill>
        </p:spPr>
      </p:sp>
      <p:sp>
        <p:nvSpPr>
          <p:cNvPr id="37" name="Text 23"/>
          <p:cNvSpPr/>
          <p:nvPr/>
        </p:nvSpPr>
        <p:spPr>
          <a:xfrm>
            <a:off x="8903737" y="2535074"/>
            <a:ext cx="2645664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67647"/>
                </a:solidFill>
                <a:latin typeface="+mn-lt"/>
                <a:ea typeface="+mn-ea"/>
                <a:cs typeface="+mn-cs"/>
              </a:rPr>
              <a:t>利用查询之间基于时间的</a:t>
            </a:r>
            <a:endParaRPr lang="en-US" sz="1465" dirty="0">
              <a:latin typeface="+mn-lt"/>
              <a:ea typeface="+mn-ea"/>
              <a:cs typeface="+mn-cs"/>
            </a:endParaRPr>
          </a:p>
        </p:txBody>
      </p:sp>
      <p:sp>
        <p:nvSpPr>
          <p:cNvPr id="38" name="Shape 24"/>
          <p:cNvSpPr/>
          <p:nvPr/>
        </p:nvSpPr>
        <p:spPr>
          <a:xfrm>
            <a:off x="9007369" y="3144674"/>
            <a:ext cx="2438400" cy="463296"/>
          </a:xfrm>
          <a:prstGeom prst="rect">
            <a:avLst/>
          </a:prstGeom>
          <a:solidFill>
            <a:srgbClr val="ABEFC6"/>
          </a:solidFill>
        </p:spPr>
      </p:sp>
      <p:sp>
        <p:nvSpPr>
          <p:cNvPr id="39" name="Text 25"/>
          <p:cNvSpPr/>
          <p:nvPr/>
        </p:nvSpPr>
        <p:spPr>
          <a:xfrm>
            <a:off x="9007369" y="3144674"/>
            <a:ext cx="24384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67647"/>
                </a:solidFill>
                <a:latin typeface="+mn-lt"/>
                <a:ea typeface="+mn-ea"/>
                <a:cs typeface="+mn-cs"/>
              </a:rPr>
              <a:t>事件相关性来识别有效</a:t>
            </a:r>
            <a:endParaRPr lang="en-US" sz="1465" dirty="0">
              <a:latin typeface="+mn-lt"/>
              <a:ea typeface="+mn-ea"/>
              <a:cs typeface="+mn-cs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9318265" y="3754274"/>
            <a:ext cx="1816608" cy="463296"/>
          </a:xfrm>
          <a:prstGeom prst="rect">
            <a:avLst/>
          </a:prstGeom>
          <a:solidFill>
            <a:srgbClr val="ABEFC6"/>
          </a:solidFill>
        </p:spPr>
      </p:sp>
      <p:sp>
        <p:nvSpPr>
          <p:cNvPr id="41" name="Text 27"/>
          <p:cNvSpPr/>
          <p:nvPr/>
        </p:nvSpPr>
        <p:spPr>
          <a:xfrm>
            <a:off x="9318265" y="3754274"/>
            <a:ext cx="1816608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65" b="1" dirty="0">
                <a:solidFill>
                  <a:srgbClr val="067647"/>
                </a:solidFill>
                <a:latin typeface="+mn-lt"/>
                <a:ea typeface="+mn-ea"/>
                <a:cs typeface="+mn-cs"/>
              </a:rPr>
              <a:t>共享处理的机会</a:t>
            </a:r>
            <a:endParaRPr lang="en-US" sz="1465" dirty="0">
              <a:latin typeface="+mn-lt"/>
              <a:ea typeface="+mn-ea"/>
              <a:cs typeface="+mn-cs"/>
            </a:endParaRPr>
          </a:p>
        </p:txBody>
      </p:sp>
      <p:sp>
        <p:nvSpPr>
          <p:cNvPr id="42" name="Shape 28"/>
          <p:cNvSpPr/>
          <p:nvPr/>
        </p:nvSpPr>
        <p:spPr>
          <a:xfrm>
            <a:off x="8702569" y="4717442"/>
            <a:ext cx="3048000" cy="0"/>
          </a:xfrm>
          <a:prstGeom prst="line">
            <a:avLst/>
          </a:prstGeom>
          <a:noFill/>
          <a:ln w="19050">
            <a:solidFill>
              <a:srgbClr val="B0B5BF"/>
            </a:solidFill>
            <a:prstDash val="dash"/>
          </a:ln>
        </p:spPr>
      </p:sp>
      <p:sp>
        <p:nvSpPr>
          <p:cNvPr id="43" name="Text 29"/>
          <p:cNvSpPr/>
          <p:nvPr/>
        </p:nvSpPr>
        <p:spPr>
          <a:xfrm>
            <a:off x="8763529" y="496128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65" dirty="0">
                <a:solidFill>
                  <a:srgbClr val="E04545"/>
                </a:solidFill>
                <a:latin typeface="+mn-lt"/>
                <a:ea typeface="+mn-ea"/>
                <a:cs typeface="+mn-cs"/>
              </a:rPr>
              <a:t>⚠</a:t>
            </a:r>
            <a:endParaRPr lang="en-US" sz="1865" dirty="0">
              <a:latin typeface="+mn-lt"/>
              <a:ea typeface="+mn-ea"/>
              <a:cs typeface="+mn-cs"/>
            </a:endParaRPr>
          </a:p>
        </p:txBody>
      </p:sp>
      <p:sp>
        <p:nvSpPr>
          <p:cNvPr id="44" name="Text 30"/>
          <p:cNvSpPr/>
          <p:nvPr/>
        </p:nvSpPr>
        <p:spPr>
          <a:xfrm>
            <a:off x="9068329" y="4961282"/>
            <a:ext cx="256032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467"/>
                </a:solidFill>
                <a:latin typeface="+mn-lt"/>
                <a:ea typeface="+mn-ea"/>
                <a:cs typeface="+mn-cs"/>
              </a:rPr>
              <a:t>未处理嵌套模式查询和具有不同窗口约束的查询</a:t>
            </a:r>
            <a:endParaRPr lang="en-US" sz="1400" dirty="0"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0" y="263992"/>
            <a:ext cx="12192048" cy="842813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Multi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Query Optimization for Complex Event Processing in SAP ESP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MOTTO</a:t>
            </a:r>
            <a:r>
              <a:rPr lang="en-US" altLang="zh-CN" sz="2400" b="1" dirty="0">
                <a:solidFill>
                  <a:srgbClr val="0339C4"/>
                </a:solidFill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SAP ESP 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中旨在提升大量并发模式查询的性能的多查询优化器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rot="0">
            <a:off x="399955" y="1377732"/>
            <a:ext cx="11577663" cy="576238"/>
            <a:chOff x="587377" y="1052398"/>
            <a:chExt cx="11017248" cy="618922"/>
          </a:xfrm>
        </p:grpSpPr>
        <p:sp>
          <p:nvSpPr>
            <p:cNvPr id="16" name="矩形: 圆角 28"/>
            <p:cNvSpPr/>
            <p:nvPr/>
          </p:nvSpPr>
          <p:spPr>
            <a:xfrm>
              <a:off x="1916306" y="1052398"/>
              <a:ext cx="9688319" cy="618922"/>
            </a:xfrm>
            <a:prstGeom prst="roundRect">
              <a:avLst>
                <a:gd name="adj" fmla="val 0"/>
              </a:avLst>
            </a:prstGeom>
            <a:solidFill>
              <a:srgbClr val="E5EAF5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prstClr val="white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87378" y="1052398"/>
              <a:ext cx="1886579" cy="618922"/>
              <a:chOff x="587378" y="1052398"/>
              <a:chExt cx="1886579" cy="618922"/>
            </a:xfrm>
          </p:grpSpPr>
          <p:sp>
            <p:nvSpPr>
              <p:cNvPr id="30" name="任意多边形: 形状 26"/>
              <p:cNvSpPr/>
              <p:nvPr/>
            </p:nvSpPr>
            <p:spPr>
              <a:xfrm flipV="1">
                <a:off x="587378" y="1382222"/>
                <a:ext cx="1856171" cy="289097"/>
              </a:xfrm>
              <a:custGeom>
                <a:avLst/>
                <a:gdLst>
                  <a:gd name="connsiteX0" fmla="*/ 0 w 1856171"/>
                  <a:gd name="connsiteY0" fmla="*/ 289097 h 289097"/>
                  <a:gd name="connsiteX1" fmla="*/ 1741336 w 1856171"/>
                  <a:gd name="connsiteY1" fmla="*/ 289097 h 289097"/>
                  <a:gd name="connsiteX2" fmla="*/ 1856171 w 1856171"/>
                  <a:gd name="connsiteY2" fmla="*/ 0 h 289097"/>
                  <a:gd name="connsiteX3" fmla="*/ 0 w 1856171"/>
                  <a:gd name="connsiteY3" fmla="*/ 0 h 289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6171" h="289097">
                    <a:moveTo>
                      <a:pt x="0" y="289097"/>
                    </a:moveTo>
                    <a:lnTo>
                      <a:pt x="1741336" y="289097"/>
                    </a:lnTo>
                    <a:lnTo>
                      <a:pt x="18561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13A88">
                  <a:alpha val="4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31" name="任意多边形: 形状 24"/>
              <p:cNvSpPr/>
              <p:nvPr/>
            </p:nvSpPr>
            <p:spPr>
              <a:xfrm>
                <a:off x="587378" y="1052398"/>
                <a:ext cx="1886579" cy="618922"/>
              </a:xfrm>
              <a:custGeom>
                <a:avLst/>
                <a:gdLst>
                  <a:gd name="connsiteX0" fmla="*/ 0 w 1886579"/>
                  <a:gd name="connsiteY0" fmla="*/ 0 h 618922"/>
                  <a:gd name="connsiteX1" fmla="*/ 1886579 w 1886579"/>
                  <a:gd name="connsiteY1" fmla="*/ 0 h 618922"/>
                  <a:gd name="connsiteX2" fmla="*/ 1640731 w 1886579"/>
                  <a:gd name="connsiteY2" fmla="*/ 618922 h 618922"/>
                  <a:gd name="connsiteX3" fmla="*/ 0 w 1886579"/>
                  <a:gd name="connsiteY3" fmla="*/ 618922 h 618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6579" h="618922">
                    <a:moveTo>
                      <a:pt x="0" y="0"/>
                    </a:moveTo>
                    <a:lnTo>
                      <a:pt x="1886579" y="0"/>
                    </a:lnTo>
                    <a:lnTo>
                      <a:pt x="1640731" y="618922"/>
                    </a:lnTo>
                    <a:lnTo>
                      <a:pt x="0" y="618922"/>
                    </a:lnTo>
                    <a:close/>
                  </a:path>
                </a:pathLst>
              </a:custGeom>
              <a:solidFill>
                <a:srgbClr val="113A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342900"/>
                <a:endParaRPr lang="zh-CN" altLang="en-US" sz="1200">
                  <a:solidFill>
                    <a:prstClr val="white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2" name="矩形 31"/>
            <p:cNvSpPr/>
            <p:nvPr>
              <p:custDataLst>
                <p:tags r:id="rId1"/>
              </p:custDataLst>
            </p:nvPr>
          </p:nvSpPr>
          <p:spPr>
            <a:xfrm>
              <a:off x="587377" y="1052437"/>
              <a:ext cx="1735714" cy="618835"/>
            </a:xfrm>
            <a:prstGeom prst="rect">
              <a:avLst/>
            </a:prstGeom>
          </p:spPr>
          <p:txBody>
            <a:bodyPr vert="horz" wrap="square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buSzTx/>
                <a:buFontTx/>
                <a:buNone/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" dist="127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核心</a:t>
              </a:r>
              <a:r>
                <a:rPr lang="zh-CN" altLang="en-US" sz="2000" b="1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" dist="127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+mn-lt"/>
                  <a:ea typeface="+mn-ea"/>
                  <a:cs typeface="Arial" panose="020B0604020202020204" pitchFamily="34" charset="0"/>
                  <a:sym typeface="Arial" panose="020B0604020202020204" pitchFamily="34" charset="0"/>
                </a:rPr>
                <a:t>设计</a:t>
              </a:r>
              <a:endParaRPr lang="zh-CN" altLang="en-US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2545911" y="1377682"/>
            <a:ext cx="9606459" cy="5762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defTabSz="914400"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MOTTO 通过请求重写器挖掘共享机会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，请求计划器求解最优方案</a:t>
            </a:r>
            <a:endParaRPr lang="zh-CN" alt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圆角矩形 3"/>
          <p:cNvSpPr/>
          <p:nvPr userDrawn="1"/>
        </p:nvSpPr>
        <p:spPr>
          <a:xfrm>
            <a:off x="10448011" y="3661982"/>
            <a:ext cx="1474605" cy="856448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>
            <a:solidFill>
              <a:srgbClr val="2E75B6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-9397" y="1106847"/>
            <a:ext cx="12201445" cy="0"/>
          </a:xfrm>
          <a:prstGeom prst="line">
            <a:avLst/>
          </a:prstGeom>
          <a:ln w="25400">
            <a:solidFill>
              <a:srgbClr val="0F3EA7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 userDrawn="1"/>
        </p:nvSpPr>
        <p:spPr>
          <a:xfrm>
            <a:off x="0" y="263992"/>
            <a:ext cx="12192048" cy="842813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Multi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Query Optimization for Complex Event Processing in SAP ESP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MOTTO</a:t>
            </a:r>
            <a:r>
              <a:rPr lang="en-US" altLang="zh-CN" sz="2400" b="1" dirty="0">
                <a:solidFill>
                  <a:srgbClr val="0339C4"/>
                </a:solidFill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SAP ESP 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中旨在提升大量并发模式查询的性能的多查询优化器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圆角矩形 9"/>
          <p:cNvSpPr/>
          <p:nvPr userDrawn="1"/>
        </p:nvSpPr>
        <p:spPr>
          <a:xfrm>
            <a:off x="2235422" y="2011966"/>
            <a:ext cx="7812500" cy="4336163"/>
          </a:xfrm>
          <a:prstGeom prst="roundRect">
            <a:avLst>
              <a:gd name="adj" fmla="val 5694"/>
            </a:avLst>
          </a:prstGeom>
          <a:solidFill>
            <a:srgbClr val="DBEAFE">
              <a:alpha val="100000"/>
            </a:srgbClr>
          </a:solidFill>
          <a:ln w="12700" cap="flat" cmpd="sng" algn="ctr">
            <a:solidFill>
              <a:srgbClr val="2E75B6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705113" y="2621280"/>
            <a:ext cx="3837305" cy="3395980"/>
          </a:xfrm>
          <a:prstGeom prst="rect">
            <a:avLst/>
          </a:prstGeom>
          <a:solidFill>
            <a:schemeClr val="bg1">
              <a:lumMod val="95000"/>
              <a:alpha val="100000"/>
            </a:schemeClr>
          </a:solidFill>
          <a:ln>
            <a:solidFill>
              <a:schemeClr val="bg1">
                <a:lumMod val="50000"/>
                <a:alpha val="10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7359206" y="2621280"/>
            <a:ext cx="2239709" cy="3395948"/>
            <a:chOff x="2848" y="4111"/>
            <a:chExt cx="3584" cy="4397"/>
          </a:xfrm>
        </p:grpSpPr>
        <p:sp>
          <p:nvSpPr>
            <p:cNvPr id="35" name="矩形 34"/>
            <p:cNvSpPr/>
            <p:nvPr userDrawn="1"/>
          </p:nvSpPr>
          <p:spPr>
            <a:xfrm>
              <a:off x="2848" y="4111"/>
              <a:ext cx="3584" cy="4397"/>
            </a:xfrm>
            <a:prstGeom prst="rect">
              <a:avLst/>
            </a:prstGeom>
            <a:solidFill>
              <a:schemeClr val="bg1">
                <a:lumMod val="95000"/>
                <a:alpha val="100000"/>
              </a:schemeClr>
            </a:solidFill>
            <a:ln>
              <a:solidFill>
                <a:schemeClr val="bg1">
                  <a:lumMod val="50000"/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6" name="文本框 35"/>
            <p:cNvSpPr txBox="1"/>
            <p:nvPr userDrawn="1"/>
          </p:nvSpPr>
          <p:spPr>
            <a:xfrm>
              <a:off x="3235" y="4322"/>
              <a:ext cx="3192" cy="1052"/>
            </a:xfrm>
            <a:prstGeom prst="rect">
              <a:avLst/>
            </a:prstGeom>
          </p:spPr>
          <p:txBody>
            <a:bodyPr wrap="square" rtlCol="0">
              <a:noAutofit/>
            </a:bodyPr>
            <a:p>
              <a:r>
                <a:rPr lang="zh-CN" altLang="en-US" sz="2400" b="1">
                  <a:solidFill>
                    <a:srgbClr val="9F1239"/>
                  </a:solidFill>
                </a:rPr>
                <a:t>请求</a:t>
              </a:r>
              <a:r>
                <a:rPr lang="zh-CN" altLang="en-US" sz="2400" b="1">
                  <a:solidFill>
                    <a:srgbClr val="9F1239"/>
                  </a:solidFill>
                  <a:cs typeface="Arial" panose="020B0604020202020204" pitchFamily="34" charset="0"/>
                </a:rPr>
                <a:t>计划</a:t>
              </a:r>
              <a:r>
                <a:rPr lang="zh-CN" altLang="en-US" sz="2400" b="1">
                  <a:solidFill>
                    <a:srgbClr val="9F1239"/>
                  </a:solidFill>
                </a:rPr>
                <a:t>器</a:t>
              </a:r>
              <a:endParaRPr lang="zh-CN" altLang="en-US" sz="2400" b="1">
                <a:solidFill>
                  <a:srgbClr val="9F1239"/>
                </a:solidFill>
              </a:endParaRPr>
            </a:p>
          </p:txBody>
        </p:sp>
        <p:sp>
          <p:nvSpPr>
            <p:cNvPr id="37" name="矩形 36"/>
            <p:cNvSpPr/>
            <p:nvPr userDrawn="1"/>
          </p:nvSpPr>
          <p:spPr>
            <a:xfrm>
              <a:off x="3235" y="5234"/>
              <a:ext cx="2809" cy="786"/>
            </a:xfrm>
            <a:prstGeom prst="rect">
              <a:avLst/>
            </a:prstGeom>
            <a:solidFill>
              <a:srgbClr val="FEE2E2">
                <a:alpha val="100000"/>
              </a:srgbClr>
            </a:solidFill>
            <a:ln>
              <a:solidFill>
                <a:srgbClr val="FF0000">
                  <a:alpha val="100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 b="1">
                  <a:solidFill>
                    <a:srgbClr val="9F1239"/>
                  </a:solidFill>
                </a:rPr>
                <a:t>D</a:t>
              </a:r>
              <a:r>
                <a:rPr lang="en-US" altLang="zh-CN" b="1">
                  <a:solidFill>
                    <a:srgbClr val="9F1239"/>
                  </a:solidFill>
                </a:rPr>
                <a:t>SMT</a:t>
              </a:r>
              <a:endParaRPr lang="zh-CN" altLang="en-US" b="1">
                <a:solidFill>
                  <a:srgbClr val="9F1239"/>
                </a:solidFill>
              </a:endParaRPr>
            </a:p>
          </p:txBody>
        </p:sp>
        <p:sp>
          <p:nvSpPr>
            <p:cNvPr id="39" name="矩形 38"/>
            <p:cNvSpPr/>
            <p:nvPr userDrawn="1"/>
          </p:nvSpPr>
          <p:spPr>
            <a:xfrm>
              <a:off x="3092" y="7110"/>
              <a:ext cx="1469" cy="1189"/>
            </a:xfrm>
            <a:prstGeom prst="rect">
              <a:avLst/>
            </a:prstGeom>
            <a:solidFill>
              <a:srgbClr val="FEE2E2">
                <a:alpha val="100000"/>
              </a:srgbClr>
            </a:solidFill>
            <a:ln w="12700" cap="flat" cmpd="sng" algn="ctr">
              <a:solidFill>
                <a:srgbClr val="FF0000">
                  <a:alpha val="100000"/>
                </a:srgb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marL="0" indent="0" algn="ctr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b="1">
                  <a:solidFill>
                    <a:srgbClr val="9F1239"/>
                  </a:solidFill>
                </a:rPr>
                <a:t>分支</a:t>
              </a:r>
              <a:endParaRPr lang="zh-CN" altLang="en-US" b="1">
                <a:solidFill>
                  <a:srgbClr val="9F1239"/>
                </a:solidFill>
              </a:endParaRPr>
            </a:p>
            <a:p>
              <a:pPr marL="0" indent="0" algn="ctr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b="1">
                  <a:solidFill>
                    <a:srgbClr val="9F1239"/>
                  </a:solidFill>
                </a:rPr>
                <a:t>定界</a:t>
              </a:r>
              <a:endParaRPr lang="zh-CN" altLang="en-US"/>
            </a:p>
          </p:txBody>
        </p:sp>
      </p:grpSp>
      <p:sp>
        <p:nvSpPr>
          <p:cNvPr id="68" name="Freeform 8"/>
          <p:cNvSpPr/>
          <p:nvPr>
            <p:custDataLst>
              <p:tags r:id="rId2"/>
            </p:custDataLst>
          </p:nvPr>
        </p:nvSpPr>
        <p:spPr bwMode="auto">
          <a:xfrm rot="5400000">
            <a:off x="1983944" y="3669106"/>
            <a:ext cx="497661" cy="944347"/>
          </a:xfrm>
          <a:custGeom>
            <a:avLst/>
            <a:gdLst>
              <a:gd name="T0" fmla="*/ 126 w 126"/>
              <a:gd name="T1" fmla="*/ 49 h 239"/>
              <a:gd name="T2" fmla="*/ 63 w 126"/>
              <a:gd name="T3" fmla="*/ 0 h 239"/>
              <a:gd name="T4" fmla="*/ 26 w 126"/>
              <a:gd name="T5" fmla="*/ 29 h 239"/>
              <a:gd name="T6" fmla="*/ 26 w 126"/>
              <a:gd name="T7" fmla="*/ 30 h 239"/>
              <a:gd name="T8" fmla="*/ 0 w 126"/>
              <a:gd name="T9" fmla="*/ 50 h 239"/>
              <a:gd name="T10" fmla="*/ 0 w 126"/>
              <a:gd name="T11" fmla="*/ 108 h 239"/>
              <a:gd name="T12" fmla="*/ 28 w 126"/>
              <a:gd name="T13" fmla="*/ 87 h 239"/>
              <a:gd name="T14" fmla="*/ 28 w 126"/>
              <a:gd name="T15" fmla="*/ 239 h 239"/>
              <a:gd name="T16" fmla="*/ 102 w 126"/>
              <a:gd name="T17" fmla="*/ 239 h 239"/>
              <a:gd name="T18" fmla="*/ 102 w 126"/>
              <a:gd name="T19" fmla="*/ 88 h 239"/>
              <a:gd name="T20" fmla="*/ 102 w 126"/>
              <a:gd name="T21" fmla="*/ 88 h 239"/>
              <a:gd name="T22" fmla="*/ 126 w 126"/>
              <a:gd name="T23" fmla="*/ 107 h 239"/>
              <a:gd name="T24" fmla="*/ 126 w 126"/>
              <a:gd name="T25" fmla="*/ 49 h 239"/>
              <a:gd name="connsiteX0" fmla="*/ 10000 w 10000"/>
              <a:gd name="connsiteY0" fmla="*/ 2050 h 10000"/>
              <a:gd name="connsiteX1" fmla="*/ 5000 w 10000"/>
              <a:gd name="connsiteY1" fmla="*/ 0 h 10000"/>
              <a:gd name="connsiteX2" fmla="*/ 2063 w 10000"/>
              <a:gd name="connsiteY2" fmla="*/ 1213 h 10000"/>
              <a:gd name="connsiteX3" fmla="*/ 0 w 10000"/>
              <a:gd name="connsiteY3" fmla="*/ 2092 h 10000"/>
              <a:gd name="connsiteX4" fmla="*/ 0 w 10000"/>
              <a:gd name="connsiteY4" fmla="*/ 4519 h 10000"/>
              <a:gd name="connsiteX5" fmla="*/ 2222 w 10000"/>
              <a:gd name="connsiteY5" fmla="*/ 3640 h 10000"/>
              <a:gd name="connsiteX6" fmla="*/ 2222 w 10000"/>
              <a:gd name="connsiteY6" fmla="*/ 10000 h 10000"/>
              <a:gd name="connsiteX7" fmla="*/ 8095 w 10000"/>
              <a:gd name="connsiteY7" fmla="*/ 10000 h 10000"/>
              <a:gd name="connsiteX8" fmla="*/ 8095 w 10000"/>
              <a:gd name="connsiteY8" fmla="*/ 3682 h 10000"/>
              <a:gd name="connsiteX9" fmla="*/ 8095 w 10000"/>
              <a:gd name="connsiteY9" fmla="*/ 3682 h 10000"/>
              <a:gd name="connsiteX10" fmla="*/ 10000 w 10000"/>
              <a:gd name="connsiteY10" fmla="*/ 4477 h 10000"/>
              <a:gd name="connsiteX11" fmla="*/ 10000 w 10000"/>
              <a:gd name="connsiteY11" fmla="*/ 2050 h 10000"/>
              <a:gd name="connsiteX0-1" fmla="*/ 10000 w 10000"/>
              <a:gd name="connsiteY0-2" fmla="*/ 2050 h 10000"/>
              <a:gd name="connsiteX1-3" fmla="*/ 5000 w 10000"/>
              <a:gd name="connsiteY1-4" fmla="*/ 0 h 10000"/>
              <a:gd name="connsiteX2-5" fmla="*/ 0 w 10000"/>
              <a:gd name="connsiteY2-6" fmla="*/ 2092 h 10000"/>
              <a:gd name="connsiteX3-7" fmla="*/ 0 w 10000"/>
              <a:gd name="connsiteY3-8" fmla="*/ 4519 h 10000"/>
              <a:gd name="connsiteX4-9" fmla="*/ 2222 w 10000"/>
              <a:gd name="connsiteY4-10" fmla="*/ 3640 h 10000"/>
              <a:gd name="connsiteX5-11" fmla="*/ 2222 w 10000"/>
              <a:gd name="connsiteY5-12" fmla="*/ 10000 h 10000"/>
              <a:gd name="connsiteX6-13" fmla="*/ 8095 w 10000"/>
              <a:gd name="connsiteY6-14" fmla="*/ 10000 h 10000"/>
              <a:gd name="connsiteX7-15" fmla="*/ 8095 w 10000"/>
              <a:gd name="connsiteY7-16" fmla="*/ 3682 h 10000"/>
              <a:gd name="connsiteX8-17" fmla="*/ 8095 w 10000"/>
              <a:gd name="connsiteY8-18" fmla="*/ 3682 h 10000"/>
              <a:gd name="connsiteX9-19" fmla="*/ 10000 w 10000"/>
              <a:gd name="connsiteY9-20" fmla="*/ 4477 h 10000"/>
              <a:gd name="connsiteX10-21" fmla="*/ 10000 w 10000"/>
              <a:gd name="connsiteY10-22" fmla="*/ 205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10000" h="10000">
                <a:moveTo>
                  <a:pt x="10000" y="2050"/>
                </a:moveTo>
                <a:lnTo>
                  <a:pt x="5000" y="0"/>
                </a:lnTo>
                <a:lnTo>
                  <a:pt x="0" y="2092"/>
                </a:lnTo>
                <a:lnTo>
                  <a:pt x="0" y="4519"/>
                </a:lnTo>
                <a:lnTo>
                  <a:pt x="2222" y="3640"/>
                </a:lnTo>
                <a:lnTo>
                  <a:pt x="2222" y="10000"/>
                </a:lnTo>
                <a:lnTo>
                  <a:pt x="8095" y="10000"/>
                </a:lnTo>
                <a:lnTo>
                  <a:pt x="8095" y="3682"/>
                </a:lnTo>
                <a:lnTo>
                  <a:pt x="8095" y="3682"/>
                </a:lnTo>
                <a:lnTo>
                  <a:pt x="10000" y="4477"/>
                </a:lnTo>
                <a:lnTo>
                  <a:pt x="10000" y="2050"/>
                </a:lnTo>
                <a:close/>
              </a:path>
            </a:pathLst>
          </a:custGeom>
          <a:gradFill>
            <a:gsLst>
              <a:gs pos="0">
                <a:srgbClr val="6096E6"/>
              </a:gs>
              <a:gs pos="59000">
                <a:srgbClr val="6096E6">
                  <a:lumMod val="60000"/>
                  <a:lumOff val="4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>
            <a:outerShdw blurRad="63500" sx="102000" sy="102000" algn="ctr" rotWithShape="0">
              <a:srgbClr val="6096E6">
                <a:lumMod val="75000"/>
                <a:alpha val="10000"/>
              </a:srgbClr>
            </a:outerShdw>
          </a:effectLst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charset="0"/>
              <a:cs typeface="思源黑体 CN Light" panose="020B0300000000000000" charset="-122"/>
              <a:sym typeface="微软雅黑" charset="0"/>
            </a:endParaRPr>
          </a:p>
        </p:txBody>
      </p:sp>
      <p:sp>
        <p:nvSpPr>
          <p:cNvPr id="69" name="Freeform 8"/>
          <p:cNvSpPr/>
          <p:nvPr>
            <p:custDataLst>
              <p:tags r:id="rId3"/>
            </p:custDataLst>
          </p:nvPr>
        </p:nvSpPr>
        <p:spPr bwMode="auto">
          <a:xfrm rot="5400000">
            <a:off x="6638221" y="3669144"/>
            <a:ext cx="497661" cy="944347"/>
          </a:xfrm>
          <a:custGeom>
            <a:avLst/>
            <a:gdLst>
              <a:gd name="T0" fmla="*/ 126 w 126"/>
              <a:gd name="T1" fmla="*/ 49 h 239"/>
              <a:gd name="T2" fmla="*/ 63 w 126"/>
              <a:gd name="T3" fmla="*/ 0 h 239"/>
              <a:gd name="T4" fmla="*/ 26 w 126"/>
              <a:gd name="T5" fmla="*/ 29 h 239"/>
              <a:gd name="T6" fmla="*/ 26 w 126"/>
              <a:gd name="T7" fmla="*/ 30 h 239"/>
              <a:gd name="T8" fmla="*/ 0 w 126"/>
              <a:gd name="T9" fmla="*/ 50 h 239"/>
              <a:gd name="T10" fmla="*/ 0 w 126"/>
              <a:gd name="T11" fmla="*/ 108 h 239"/>
              <a:gd name="T12" fmla="*/ 28 w 126"/>
              <a:gd name="T13" fmla="*/ 87 h 239"/>
              <a:gd name="T14" fmla="*/ 28 w 126"/>
              <a:gd name="T15" fmla="*/ 239 h 239"/>
              <a:gd name="T16" fmla="*/ 102 w 126"/>
              <a:gd name="T17" fmla="*/ 239 h 239"/>
              <a:gd name="T18" fmla="*/ 102 w 126"/>
              <a:gd name="T19" fmla="*/ 88 h 239"/>
              <a:gd name="T20" fmla="*/ 102 w 126"/>
              <a:gd name="T21" fmla="*/ 88 h 239"/>
              <a:gd name="T22" fmla="*/ 126 w 126"/>
              <a:gd name="T23" fmla="*/ 107 h 239"/>
              <a:gd name="T24" fmla="*/ 126 w 126"/>
              <a:gd name="T25" fmla="*/ 49 h 239"/>
              <a:gd name="connsiteX0" fmla="*/ 10000 w 10000"/>
              <a:gd name="connsiteY0" fmla="*/ 2050 h 10000"/>
              <a:gd name="connsiteX1" fmla="*/ 5000 w 10000"/>
              <a:gd name="connsiteY1" fmla="*/ 0 h 10000"/>
              <a:gd name="connsiteX2" fmla="*/ 2063 w 10000"/>
              <a:gd name="connsiteY2" fmla="*/ 1213 h 10000"/>
              <a:gd name="connsiteX3" fmla="*/ 0 w 10000"/>
              <a:gd name="connsiteY3" fmla="*/ 2092 h 10000"/>
              <a:gd name="connsiteX4" fmla="*/ 0 w 10000"/>
              <a:gd name="connsiteY4" fmla="*/ 4519 h 10000"/>
              <a:gd name="connsiteX5" fmla="*/ 2222 w 10000"/>
              <a:gd name="connsiteY5" fmla="*/ 3640 h 10000"/>
              <a:gd name="connsiteX6" fmla="*/ 2222 w 10000"/>
              <a:gd name="connsiteY6" fmla="*/ 10000 h 10000"/>
              <a:gd name="connsiteX7" fmla="*/ 8095 w 10000"/>
              <a:gd name="connsiteY7" fmla="*/ 10000 h 10000"/>
              <a:gd name="connsiteX8" fmla="*/ 8095 w 10000"/>
              <a:gd name="connsiteY8" fmla="*/ 3682 h 10000"/>
              <a:gd name="connsiteX9" fmla="*/ 8095 w 10000"/>
              <a:gd name="connsiteY9" fmla="*/ 3682 h 10000"/>
              <a:gd name="connsiteX10" fmla="*/ 10000 w 10000"/>
              <a:gd name="connsiteY10" fmla="*/ 4477 h 10000"/>
              <a:gd name="connsiteX11" fmla="*/ 10000 w 10000"/>
              <a:gd name="connsiteY11" fmla="*/ 2050 h 10000"/>
              <a:gd name="connsiteX0-1" fmla="*/ 10000 w 10000"/>
              <a:gd name="connsiteY0-2" fmla="*/ 2050 h 10000"/>
              <a:gd name="connsiteX1-3" fmla="*/ 5000 w 10000"/>
              <a:gd name="connsiteY1-4" fmla="*/ 0 h 10000"/>
              <a:gd name="connsiteX2-5" fmla="*/ 0 w 10000"/>
              <a:gd name="connsiteY2-6" fmla="*/ 2092 h 10000"/>
              <a:gd name="connsiteX3-7" fmla="*/ 0 w 10000"/>
              <a:gd name="connsiteY3-8" fmla="*/ 4519 h 10000"/>
              <a:gd name="connsiteX4-9" fmla="*/ 2222 w 10000"/>
              <a:gd name="connsiteY4-10" fmla="*/ 3640 h 10000"/>
              <a:gd name="connsiteX5-11" fmla="*/ 2222 w 10000"/>
              <a:gd name="connsiteY5-12" fmla="*/ 10000 h 10000"/>
              <a:gd name="connsiteX6-13" fmla="*/ 8095 w 10000"/>
              <a:gd name="connsiteY6-14" fmla="*/ 10000 h 10000"/>
              <a:gd name="connsiteX7-15" fmla="*/ 8095 w 10000"/>
              <a:gd name="connsiteY7-16" fmla="*/ 3682 h 10000"/>
              <a:gd name="connsiteX8-17" fmla="*/ 8095 w 10000"/>
              <a:gd name="connsiteY8-18" fmla="*/ 3682 h 10000"/>
              <a:gd name="connsiteX9-19" fmla="*/ 10000 w 10000"/>
              <a:gd name="connsiteY9-20" fmla="*/ 4477 h 10000"/>
              <a:gd name="connsiteX10-21" fmla="*/ 10000 w 10000"/>
              <a:gd name="connsiteY10-22" fmla="*/ 205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10000" h="10000">
                <a:moveTo>
                  <a:pt x="10000" y="2050"/>
                </a:moveTo>
                <a:lnTo>
                  <a:pt x="5000" y="0"/>
                </a:lnTo>
                <a:lnTo>
                  <a:pt x="0" y="2092"/>
                </a:lnTo>
                <a:lnTo>
                  <a:pt x="0" y="4519"/>
                </a:lnTo>
                <a:lnTo>
                  <a:pt x="2222" y="3640"/>
                </a:lnTo>
                <a:lnTo>
                  <a:pt x="2222" y="10000"/>
                </a:lnTo>
                <a:lnTo>
                  <a:pt x="8095" y="10000"/>
                </a:lnTo>
                <a:lnTo>
                  <a:pt x="8095" y="3682"/>
                </a:lnTo>
                <a:lnTo>
                  <a:pt x="8095" y="3682"/>
                </a:lnTo>
                <a:lnTo>
                  <a:pt x="10000" y="4477"/>
                </a:lnTo>
                <a:lnTo>
                  <a:pt x="10000" y="2050"/>
                </a:lnTo>
                <a:close/>
              </a:path>
            </a:pathLst>
          </a:custGeom>
          <a:gradFill>
            <a:gsLst>
              <a:gs pos="0">
                <a:srgbClr val="6096E6"/>
              </a:gs>
              <a:gs pos="59000">
                <a:srgbClr val="6096E6">
                  <a:lumMod val="60000"/>
                  <a:lumOff val="4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>
            <a:outerShdw blurRad="63500" sx="102000" sy="102000" algn="ctr" rotWithShape="0">
              <a:srgbClr val="6096E6">
                <a:lumMod val="75000"/>
                <a:alpha val="10000"/>
              </a:srgbClr>
            </a:outerShdw>
          </a:effectLst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charset="0"/>
              <a:cs typeface="思源黑体 CN Light" panose="020B0300000000000000" charset="-122"/>
              <a:sym typeface="微软雅黑" charset="0"/>
            </a:endParaRPr>
          </a:p>
        </p:txBody>
      </p:sp>
      <p:sp>
        <p:nvSpPr>
          <p:cNvPr id="70" name="Freeform 8"/>
          <p:cNvSpPr/>
          <p:nvPr>
            <p:custDataLst>
              <p:tags r:id="rId4"/>
            </p:custDataLst>
          </p:nvPr>
        </p:nvSpPr>
        <p:spPr bwMode="auto">
          <a:xfrm rot="5400000">
            <a:off x="9660332" y="3707873"/>
            <a:ext cx="497661" cy="944347"/>
          </a:xfrm>
          <a:custGeom>
            <a:avLst/>
            <a:gdLst>
              <a:gd name="T0" fmla="*/ 126 w 126"/>
              <a:gd name="T1" fmla="*/ 49 h 239"/>
              <a:gd name="T2" fmla="*/ 63 w 126"/>
              <a:gd name="T3" fmla="*/ 0 h 239"/>
              <a:gd name="T4" fmla="*/ 26 w 126"/>
              <a:gd name="T5" fmla="*/ 29 h 239"/>
              <a:gd name="T6" fmla="*/ 26 w 126"/>
              <a:gd name="T7" fmla="*/ 30 h 239"/>
              <a:gd name="T8" fmla="*/ 0 w 126"/>
              <a:gd name="T9" fmla="*/ 50 h 239"/>
              <a:gd name="T10" fmla="*/ 0 w 126"/>
              <a:gd name="T11" fmla="*/ 108 h 239"/>
              <a:gd name="T12" fmla="*/ 28 w 126"/>
              <a:gd name="T13" fmla="*/ 87 h 239"/>
              <a:gd name="T14" fmla="*/ 28 w 126"/>
              <a:gd name="T15" fmla="*/ 239 h 239"/>
              <a:gd name="T16" fmla="*/ 102 w 126"/>
              <a:gd name="T17" fmla="*/ 239 h 239"/>
              <a:gd name="T18" fmla="*/ 102 w 126"/>
              <a:gd name="T19" fmla="*/ 88 h 239"/>
              <a:gd name="T20" fmla="*/ 102 w 126"/>
              <a:gd name="T21" fmla="*/ 88 h 239"/>
              <a:gd name="T22" fmla="*/ 126 w 126"/>
              <a:gd name="T23" fmla="*/ 107 h 239"/>
              <a:gd name="T24" fmla="*/ 126 w 126"/>
              <a:gd name="T25" fmla="*/ 49 h 239"/>
              <a:gd name="connsiteX0" fmla="*/ 10000 w 10000"/>
              <a:gd name="connsiteY0" fmla="*/ 2050 h 10000"/>
              <a:gd name="connsiteX1" fmla="*/ 5000 w 10000"/>
              <a:gd name="connsiteY1" fmla="*/ 0 h 10000"/>
              <a:gd name="connsiteX2" fmla="*/ 2063 w 10000"/>
              <a:gd name="connsiteY2" fmla="*/ 1213 h 10000"/>
              <a:gd name="connsiteX3" fmla="*/ 0 w 10000"/>
              <a:gd name="connsiteY3" fmla="*/ 2092 h 10000"/>
              <a:gd name="connsiteX4" fmla="*/ 0 w 10000"/>
              <a:gd name="connsiteY4" fmla="*/ 4519 h 10000"/>
              <a:gd name="connsiteX5" fmla="*/ 2222 w 10000"/>
              <a:gd name="connsiteY5" fmla="*/ 3640 h 10000"/>
              <a:gd name="connsiteX6" fmla="*/ 2222 w 10000"/>
              <a:gd name="connsiteY6" fmla="*/ 10000 h 10000"/>
              <a:gd name="connsiteX7" fmla="*/ 8095 w 10000"/>
              <a:gd name="connsiteY7" fmla="*/ 10000 h 10000"/>
              <a:gd name="connsiteX8" fmla="*/ 8095 w 10000"/>
              <a:gd name="connsiteY8" fmla="*/ 3682 h 10000"/>
              <a:gd name="connsiteX9" fmla="*/ 8095 w 10000"/>
              <a:gd name="connsiteY9" fmla="*/ 3682 h 10000"/>
              <a:gd name="connsiteX10" fmla="*/ 10000 w 10000"/>
              <a:gd name="connsiteY10" fmla="*/ 4477 h 10000"/>
              <a:gd name="connsiteX11" fmla="*/ 10000 w 10000"/>
              <a:gd name="connsiteY11" fmla="*/ 2050 h 10000"/>
              <a:gd name="connsiteX0-1" fmla="*/ 10000 w 10000"/>
              <a:gd name="connsiteY0-2" fmla="*/ 2050 h 10000"/>
              <a:gd name="connsiteX1-3" fmla="*/ 5000 w 10000"/>
              <a:gd name="connsiteY1-4" fmla="*/ 0 h 10000"/>
              <a:gd name="connsiteX2-5" fmla="*/ 0 w 10000"/>
              <a:gd name="connsiteY2-6" fmla="*/ 2092 h 10000"/>
              <a:gd name="connsiteX3-7" fmla="*/ 0 w 10000"/>
              <a:gd name="connsiteY3-8" fmla="*/ 4519 h 10000"/>
              <a:gd name="connsiteX4-9" fmla="*/ 2222 w 10000"/>
              <a:gd name="connsiteY4-10" fmla="*/ 3640 h 10000"/>
              <a:gd name="connsiteX5-11" fmla="*/ 2222 w 10000"/>
              <a:gd name="connsiteY5-12" fmla="*/ 10000 h 10000"/>
              <a:gd name="connsiteX6-13" fmla="*/ 8095 w 10000"/>
              <a:gd name="connsiteY6-14" fmla="*/ 10000 h 10000"/>
              <a:gd name="connsiteX7-15" fmla="*/ 8095 w 10000"/>
              <a:gd name="connsiteY7-16" fmla="*/ 3682 h 10000"/>
              <a:gd name="connsiteX8-17" fmla="*/ 8095 w 10000"/>
              <a:gd name="connsiteY8-18" fmla="*/ 3682 h 10000"/>
              <a:gd name="connsiteX9-19" fmla="*/ 10000 w 10000"/>
              <a:gd name="connsiteY9-20" fmla="*/ 4477 h 10000"/>
              <a:gd name="connsiteX10-21" fmla="*/ 10000 w 10000"/>
              <a:gd name="connsiteY10-22" fmla="*/ 205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10000" h="10000">
                <a:moveTo>
                  <a:pt x="10000" y="2050"/>
                </a:moveTo>
                <a:lnTo>
                  <a:pt x="5000" y="0"/>
                </a:lnTo>
                <a:lnTo>
                  <a:pt x="0" y="2092"/>
                </a:lnTo>
                <a:lnTo>
                  <a:pt x="0" y="4519"/>
                </a:lnTo>
                <a:lnTo>
                  <a:pt x="2222" y="3640"/>
                </a:lnTo>
                <a:lnTo>
                  <a:pt x="2222" y="10000"/>
                </a:lnTo>
                <a:lnTo>
                  <a:pt x="8095" y="10000"/>
                </a:lnTo>
                <a:lnTo>
                  <a:pt x="8095" y="3682"/>
                </a:lnTo>
                <a:lnTo>
                  <a:pt x="8095" y="3682"/>
                </a:lnTo>
                <a:lnTo>
                  <a:pt x="10000" y="4477"/>
                </a:lnTo>
                <a:lnTo>
                  <a:pt x="10000" y="2050"/>
                </a:lnTo>
                <a:close/>
              </a:path>
            </a:pathLst>
          </a:custGeom>
          <a:gradFill>
            <a:gsLst>
              <a:gs pos="0">
                <a:srgbClr val="6096E6"/>
              </a:gs>
              <a:gs pos="59000">
                <a:srgbClr val="6096E6">
                  <a:lumMod val="60000"/>
                  <a:lumOff val="4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>
            <a:outerShdw blurRad="63500" sx="102000" sy="102000" algn="ctr" rotWithShape="0">
              <a:srgbClr val="6096E6">
                <a:lumMod val="75000"/>
                <a:alpha val="10000"/>
              </a:srgbClr>
            </a:outerShdw>
          </a:effectLst>
        </p:spPr>
        <p:style>
          <a:lnRef idx="2">
            <a:srgbClr val="6096E6">
              <a:shade val="50000"/>
            </a:srgbClr>
          </a:lnRef>
          <a:fillRef idx="1">
            <a:srgbClr val="6096E6"/>
          </a:fillRef>
          <a:effectRef idx="0">
            <a:srgbClr val="6096E6"/>
          </a:effectRef>
          <a:fontRef idx="minor">
            <a:srgbClr val="FFFFFF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charset="0"/>
              <a:cs typeface="思源黑体 CN Light" panose="020B0300000000000000" charset="-122"/>
              <a:sym typeface="微软雅黑" charset="0"/>
            </a:endParaRPr>
          </a:p>
        </p:txBody>
      </p:sp>
      <p:sp>
        <p:nvSpPr>
          <p:cNvPr id="72" name="圆角矩形 71"/>
          <p:cNvSpPr/>
          <p:nvPr userDrawn="1"/>
        </p:nvSpPr>
        <p:spPr>
          <a:xfrm>
            <a:off x="376333" y="3661982"/>
            <a:ext cx="1474605" cy="856448"/>
          </a:xfrm>
          <a:prstGeom prst="round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>
            <a:solidFill>
              <a:srgbClr val="2E75B6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5" name="文本框 74"/>
          <p:cNvSpPr txBox="1"/>
          <p:nvPr userDrawn="1"/>
        </p:nvSpPr>
        <p:spPr>
          <a:xfrm>
            <a:off x="453908" y="3859701"/>
            <a:ext cx="1319400" cy="461010"/>
          </a:xfrm>
          <a:prstGeom prst="rect">
            <a:avLst/>
          </a:prstGeom>
        </p:spPr>
        <p:txBody>
          <a:bodyPr wrap="square" rtlCol="0" anchor="ctr">
            <a:noAutofit/>
          </a:bodyPr>
          <a:p>
            <a:pPr algn="ctr"/>
            <a:r>
              <a:rPr lang="zh-CN" altLang="en-US" sz="2200" b="1">
                <a:solidFill>
                  <a:srgbClr val="0339C4"/>
                </a:solidFill>
              </a:rPr>
              <a:t>并</a:t>
            </a:r>
            <a:r>
              <a:rPr lang="zh-CN" altLang="en-US" sz="2200" b="1">
                <a:solidFill>
                  <a:srgbClr val="0339C4"/>
                </a:solidFill>
                <a:cs typeface="Arial" panose="020B0604020202020204" pitchFamily="34" charset="0"/>
              </a:rPr>
              <a:t>发请求</a:t>
            </a:r>
            <a:endParaRPr lang="zh-CN" altLang="en-US" b="1">
              <a:solidFill>
                <a:srgbClr val="0339C4"/>
              </a:solidFill>
            </a:endParaRPr>
          </a:p>
        </p:txBody>
      </p:sp>
      <p:sp>
        <p:nvSpPr>
          <p:cNvPr id="76" name="文本框 75"/>
          <p:cNvSpPr txBox="1"/>
          <p:nvPr userDrawn="1"/>
        </p:nvSpPr>
        <p:spPr>
          <a:xfrm>
            <a:off x="2147508" y="2160270"/>
            <a:ext cx="2452875" cy="461010"/>
          </a:xfrm>
          <a:prstGeom prst="rect">
            <a:avLst/>
          </a:prstGeom>
        </p:spPr>
        <p:txBody>
          <a:bodyPr wrap="square" rtlCol="0" anchor="ctr">
            <a:noAutofit/>
          </a:bodyPr>
          <a:p>
            <a:pPr algn="ctr"/>
            <a:r>
              <a:rPr lang="en-US" altLang="zh-CN" sz="2800" b="1">
                <a:solidFill>
                  <a:srgbClr val="0339C4"/>
                </a:solidFill>
              </a:rPr>
              <a:t>MOTTO</a:t>
            </a:r>
            <a:endParaRPr lang="zh-CN" altLang="en-US" sz="2800" b="1">
              <a:solidFill>
                <a:srgbClr val="0339C4"/>
              </a:solidFill>
            </a:endParaRPr>
          </a:p>
        </p:txBody>
      </p:sp>
      <p:sp>
        <p:nvSpPr>
          <p:cNvPr id="85" name="下箭头 84"/>
          <p:cNvSpPr/>
          <p:nvPr userDrawn="1"/>
        </p:nvSpPr>
        <p:spPr>
          <a:xfrm>
            <a:off x="8343888" y="4390073"/>
            <a:ext cx="270343" cy="402590"/>
          </a:xfrm>
          <a:prstGeom prst="downArrow">
            <a:avLst/>
          </a:prstGeom>
          <a:solidFill>
            <a:srgbClr val="FECDCA">
              <a:alpha val="100000"/>
            </a:srgbClr>
          </a:solidFill>
          <a:ln>
            <a:solidFill>
              <a:srgbClr val="FF0000">
                <a:alpha val="100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10525601" y="3859745"/>
            <a:ext cx="1319400" cy="461010"/>
          </a:xfrm>
          <a:prstGeom prst="rect">
            <a:avLst/>
          </a:prstGeom>
        </p:spPr>
        <p:txBody>
          <a:bodyPr wrap="square" rtlCol="0" anchor="ctr">
            <a:noAutofit/>
          </a:bodyPr>
          <a:p>
            <a:pPr algn="ctr"/>
            <a:r>
              <a:rPr lang="zh-CN" altLang="en-US" sz="2200" b="1">
                <a:solidFill>
                  <a:srgbClr val="0339C4"/>
                </a:solidFill>
              </a:rPr>
              <a:t>最佳</a:t>
            </a:r>
            <a:r>
              <a:rPr lang="zh-CN" altLang="en-US" sz="2200" b="1">
                <a:solidFill>
                  <a:srgbClr val="0339C4"/>
                </a:solidFill>
                <a:cs typeface="Arial" panose="020B0604020202020204" pitchFamily="34" charset="0"/>
              </a:rPr>
              <a:t>方案</a:t>
            </a:r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4608322" y="3342640"/>
            <a:ext cx="1806575" cy="2571750"/>
            <a:chOff x="4436" y="5264"/>
            <a:chExt cx="2845" cy="4050"/>
          </a:xfrm>
        </p:grpSpPr>
        <p:sp>
          <p:nvSpPr>
            <p:cNvPr id="15" name="矩形 14"/>
            <p:cNvSpPr/>
            <p:nvPr userDrawn="1"/>
          </p:nvSpPr>
          <p:spPr>
            <a:xfrm>
              <a:off x="4436" y="5264"/>
              <a:ext cx="2845" cy="974"/>
            </a:xfrm>
            <a:prstGeom prst="rect">
              <a:avLst/>
            </a:prstGeom>
            <a:solidFill>
              <a:srgbClr val="D4E7D4">
                <a:alpha val="100000"/>
              </a:srgbClr>
            </a:solidFill>
            <a:ln w="12700" cap="flat" cmpd="sng" algn="ctr">
              <a:solidFill>
                <a:schemeClr val="accent6">
                  <a:lumMod val="75000"/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marL="0" indent="0" algn="ctr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b="1">
                  <a:solidFill>
                    <a:schemeClr val="accent6">
                      <a:lumMod val="50000"/>
                    </a:schemeClr>
                  </a:solidFill>
                </a:rPr>
                <a:t>MST</a:t>
              </a:r>
              <a:r>
                <a:rPr lang="zh-CN" altLang="en-US" b="1">
                  <a:solidFill>
                    <a:schemeClr val="accent6">
                      <a:lumMod val="50000"/>
                    </a:schemeClr>
                  </a:solidFill>
                </a:rPr>
                <a:t>基础共享</a:t>
              </a:r>
              <a:endParaRPr lang="zh-CN" altLang="en-US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3" name="矩形 22"/>
            <p:cNvSpPr/>
            <p:nvPr userDrawn="1"/>
          </p:nvSpPr>
          <p:spPr>
            <a:xfrm>
              <a:off x="4436" y="6802"/>
              <a:ext cx="2845" cy="974"/>
            </a:xfrm>
            <a:prstGeom prst="rect">
              <a:avLst/>
            </a:prstGeom>
            <a:solidFill>
              <a:srgbClr val="D4E7D4">
                <a:alpha val="100000"/>
              </a:srgbClr>
            </a:solidFill>
            <a:ln w="12700" cap="flat" cmpd="sng" algn="ctr">
              <a:solidFill>
                <a:schemeClr val="accent6">
                  <a:lumMod val="75000"/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marL="0" indent="0" algn="ctr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b="1">
                  <a:solidFill>
                    <a:schemeClr val="accent6">
                      <a:lumMod val="50000"/>
                    </a:schemeClr>
                  </a:solidFill>
                </a:rPr>
                <a:t>DST子查询</a:t>
              </a:r>
              <a:r>
                <a:rPr lang="zh-CN" altLang="en-US" b="1">
                  <a:solidFill>
                    <a:schemeClr val="accent6">
                      <a:lumMod val="50000"/>
                    </a:schemeClr>
                  </a:solidFill>
                </a:rPr>
                <a:t>共享</a:t>
              </a:r>
              <a:endParaRPr lang="zh-CN" altLang="en-US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4" name="矩形 23"/>
            <p:cNvSpPr/>
            <p:nvPr userDrawn="1"/>
          </p:nvSpPr>
          <p:spPr>
            <a:xfrm>
              <a:off x="4436" y="8341"/>
              <a:ext cx="2845" cy="973"/>
            </a:xfrm>
            <a:prstGeom prst="rect">
              <a:avLst/>
            </a:prstGeom>
            <a:solidFill>
              <a:srgbClr val="D4E7D4">
                <a:alpha val="100000"/>
              </a:srgbClr>
            </a:solidFill>
            <a:ln>
              <a:solidFill>
                <a:schemeClr val="accent6">
                  <a:lumMod val="75000"/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r>
                <a:rPr lang="zh-CN" altLang="en-US" b="1">
                  <a:solidFill>
                    <a:schemeClr val="accent6">
                      <a:lumMod val="50000"/>
                    </a:schemeClr>
                  </a:solidFill>
                </a:rPr>
                <a:t>O</a:t>
              </a:r>
              <a:r>
                <a:rPr lang="en-US" altLang="zh-CN" b="1">
                  <a:solidFill>
                    <a:schemeClr val="accent6">
                      <a:lumMod val="50000"/>
                    </a:schemeClr>
                  </a:solidFill>
                </a:rPr>
                <a:t>TT</a:t>
              </a:r>
              <a:r>
                <a:rPr lang="zh-CN" altLang="en-US" b="1">
                  <a:solidFill>
                    <a:schemeClr val="accent6">
                      <a:lumMod val="50000"/>
                    </a:schemeClr>
                  </a:solidFill>
                </a:rPr>
                <a:t>算子转换</a:t>
              </a:r>
              <a:endParaRPr lang="zh-CN" altLang="en-US" b="1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17" name="加号 16"/>
            <p:cNvSpPr/>
            <p:nvPr userDrawn="1"/>
          </p:nvSpPr>
          <p:spPr>
            <a:xfrm>
              <a:off x="5662" y="7860"/>
              <a:ext cx="394" cy="397"/>
            </a:xfrm>
            <a:prstGeom prst="mathPlus">
              <a:avLst/>
            </a:prstGeom>
            <a:solidFill>
              <a:schemeClr val="tx1">
                <a:alpha val="100000"/>
              </a:schemeClr>
            </a:solidFill>
            <a:ln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9" name="加号 18"/>
            <p:cNvSpPr/>
            <p:nvPr userDrawn="1"/>
          </p:nvSpPr>
          <p:spPr>
            <a:xfrm>
              <a:off x="5662" y="6323"/>
              <a:ext cx="394" cy="398"/>
            </a:xfrm>
            <a:prstGeom prst="mathPlus">
              <a:avLst/>
            </a:prstGeom>
            <a:solidFill>
              <a:schemeClr val="tx1">
                <a:alpha val="100000"/>
              </a:schemeClr>
            </a:solidFill>
            <a:ln>
              <a:solidFill>
                <a:schemeClr val="tx1"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000000"/>
                </a:solidFill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3670541" y="2745391"/>
            <a:ext cx="1906360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请求</a:t>
            </a:r>
            <a:r>
              <a:rPr lang="zh-CN" altLang="en-US" sz="2400" b="1" dirty="0">
                <a:solidFill>
                  <a:schemeClr val="accent6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重写器</a:t>
            </a:r>
            <a:endParaRPr lang="zh-CN" altLang="en-US">
              <a:solidFill>
                <a:schemeClr val="accent6">
                  <a:lumMod val="5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2813050" y="3735673"/>
            <a:ext cx="1121410" cy="1785620"/>
            <a:chOff x="4760" y="5977"/>
            <a:chExt cx="1766" cy="2812"/>
          </a:xfrm>
        </p:grpSpPr>
        <p:sp>
          <p:nvSpPr>
            <p:cNvPr id="22" name="矩形 21"/>
            <p:cNvSpPr/>
            <p:nvPr userDrawn="1"/>
          </p:nvSpPr>
          <p:spPr>
            <a:xfrm>
              <a:off x="4760" y="5977"/>
              <a:ext cx="1767" cy="1138"/>
            </a:xfrm>
            <a:prstGeom prst="rect">
              <a:avLst/>
            </a:prstGeom>
            <a:solidFill>
              <a:srgbClr val="D4E7D4">
                <a:alpha val="100000"/>
              </a:srgbClr>
            </a:solidFill>
            <a:ln w="12700" cap="flat" cmpd="sng" algn="ctr">
              <a:solidFill>
                <a:schemeClr val="accent6">
                  <a:lumMod val="75000"/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marL="0" indent="0" algn="ctr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b="1">
                  <a:solidFill>
                    <a:schemeClr val="accent6">
                      <a:lumMod val="50000"/>
                    </a:schemeClr>
                  </a:solidFill>
                </a:rPr>
                <a:t>嵌套查询</a:t>
              </a:r>
              <a:endParaRPr lang="zh-CN" altLang="en-US"/>
            </a:p>
          </p:txBody>
        </p:sp>
        <p:sp>
          <p:nvSpPr>
            <p:cNvPr id="25" name="矩形 24"/>
            <p:cNvSpPr/>
            <p:nvPr userDrawn="1"/>
          </p:nvSpPr>
          <p:spPr>
            <a:xfrm>
              <a:off x="4760" y="7653"/>
              <a:ext cx="1767" cy="1138"/>
            </a:xfrm>
            <a:prstGeom prst="rect">
              <a:avLst/>
            </a:prstGeom>
            <a:solidFill>
              <a:srgbClr val="D4E7D4">
                <a:alpha val="100000"/>
              </a:srgbClr>
            </a:solidFill>
            <a:ln w="12700" cap="flat" cmpd="sng" algn="ctr">
              <a:solidFill>
                <a:schemeClr val="accent6">
                  <a:lumMod val="75000"/>
                  <a:alpha val="10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marL="0" indent="0" algn="ctr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b="1">
                  <a:solidFill>
                    <a:schemeClr val="accent6">
                      <a:lumMod val="50000"/>
                    </a:schemeClr>
                  </a:solidFill>
                </a:rPr>
                <a:t>异构窗口</a:t>
              </a:r>
              <a:endParaRPr lang="zh-CN" altLang="en-US"/>
            </a:p>
          </p:txBody>
        </p:sp>
      </p:grpSp>
      <p:cxnSp>
        <p:nvCxnSpPr>
          <p:cNvPr id="48" name="直接连接符 47"/>
          <p:cNvCxnSpPr>
            <a:stCxn id="22" idx="3"/>
          </p:cNvCxnSpPr>
          <p:nvPr userDrawn="1"/>
        </p:nvCxnSpPr>
        <p:spPr>
          <a:xfrm>
            <a:off x="3935095" y="4097020"/>
            <a:ext cx="0" cy="952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stCxn id="22" idx="3"/>
          </p:cNvCxnSpPr>
          <p:nvPr userDrawn="1"/>
        </p:nvCxnSpPr>
        <p:spPr>
          <a:xfrm>
            <a:off x="3935008" y="4097179"/>
            <a:ext cx="279487" cy="507841"/>
          </a:xfrm>
          <a:prstGeom prst="line">
            <a:avLst/>
          </a:prstGeom>
          <a:ln w="19050">
            <a:solidFill>
              <a:schemeClr val="accent6">
                <a:lumMod val="75000"/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25" idx="3"/>
          </p:cNvCxnSpPr>
          <p:nvPr userDrawn="1"/>
        </p:nvCxnSpPr>
        <p:spPr>
          <a:xfrm flipV="1">
            <a:off x="3935008" y="4605655"/>
            <a:ext cx="289012" cy="555911"/>
          </a:xfrm>
          <a:prstGeom prst="line">
            <a:avLst/>
          </a:prstGeom>
          <a:ln w="19050">
            <a:solidFill>
              <a:schemeClr val="accent6">
                <a:lumMod val="75000"/>
                <a:alpha val="10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endCxn id="15" idx="1"/>
          </p:cNvCxnSpPr>
          <p:nvPr userDrawn="1"/>
        </p:nvCxnSpPr>
        <p:spPr>
          <a:xfrm flipV="1">
            <a:off x="4214495" y="3651885"/>
            <a:ext cx="393700" cy="981710"/>
          </a:xfrm>
          <a:prstGeom prst="line">
            <a:avLst/>
          </a:prstGeom>
          <a:ln w="19050">
            <a:solidFill>
              <a:schemeClr val="accent6">
                <a:lumMod val="75000"/>
                <a:alpha val="10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endCxn id="24" idx="1"/>
          </p:cNvCxnSpPr>
          <p:nvPr userDrawn="1"/>
        </p:nvCxnSpPr>
        <p:spPr>
          <a:xfrm>
            <a:off x="4224020" y="4615180"/>
            <a:ext cx="384175" cy="990600"/>
          </a:xfrm>
          <a:prstGeom prst="line">
            <a:avLst/>
          </a:prstGeom>
          <a:ln w="19050">
            <a:solidFill>
              <a:schemeClr val="accent6">
                <a:lumMod val="75000"/>
                <a:alpha val="10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endCxn id="23" idx="1"/>
          </p:cNvCxnSpPr>
          <p:nvPr userDrawn="1"/>
        </p:nvCxnSpPr>
        <p:spPr>
          <a:xfrm>
            <a:off x="4214495" y="4615180"/>
            <a:ext cx="393700" cy="13335"/>
          </a:xfrm>
          <a:prstGeom prst="line">
            <a:avLst/>
          </a:prstGeom>
          <a:ln w="19050">
            <a:solidFill>
              <a:schemeClr val="accent6">
                <a:lumMod val="75000"/>
                <a:alpha val="10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矩形 54"/>
          <p:cNvSpPr/>
          <p:nvPr userDrawn="1"/>
        </p:nvSpPr>
        <p:spPr>
          <a:xfrm>
            <a:off x="8518989" y="4937760"/>
            <a:ext cx="918000" cy="918000"/>
          </a:xfrm>
          <a:prstGeom prst="rect">
            <a:avLst/>
          </a:prstGeom>
          <a:solidFill>
            <a:srgbClr val="FEE2E2">
              <a:alpha val="100000"/>
            </a:srgbClr>
          </a:solidFill>
          <a:ln w="12700" cap="flat" cmpd="sng" algn="ctr">
            <a:solidFill>
              <a:srgbClr val="FF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1">
                <a:solidFill>
                  <a:srgbClr val="9F1239"/>
                </a:solidFill>
              </a:rPr>
              <a:t>模拟</a:t>
            </a:r>
            <a:endParaRPr lang="zh-CN" altLang="en-US" b="1">
              <a:solidFill>
                <a:srgbClr val="9F1239"/>
              </a:solidFill>
            </a:endParaRPr>
          </a:p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b="1">
                <a:solidFill>
                  <a:srgbClr val="9F1239"/>
                </a:solidFill>
              </a:rPr>
              <a:t>退火</a:t>
            </a:r>
            <a:endParaRPr lang="zh-CN" altLang="en-US" b="1">
              <a:solidFill>
                <a:srgbClr val="9F123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圆角矩形 30"/>
          <p:cNvSpPr/>
          <p:nvPr userDrawn="1"/>
        </p:nvSpPr>
        <p:spPr>
          <a:xfrm>
            <a:off x="396252" y="383110"/>
            <a:ext cx="5812669" cy="374650"/>
          </a:xfrm>
          <a:prstGeom prst="roundRect">
            <a:avLst/>
          </a:prstGeom>
          <a:solidFill>
            <a:schemeClr val="bg1">
              <a:lumMod val="95000"/>
              <a:alpha val="100000"/>
            </a:schemeClr>
          </a:solidFill>
          <a:ln>
            <a:solidFill>
              <a:schemeClr val="tx1">
                <a:lumMod val="95000"/>
                <a:lumOff val="5000"/>
                <a:alpha val="100000"/>
              </a:schemeClr>
            </a:solidFill>
          </a:ln>
          <a:effectLst>
            <a:outerShdw blurRad="190500" dist="63500" dir="2700000" algn="tl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前提：两查询使用相同的 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</a:rPr>
              <a:t>pattern 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算子，相同窗口约束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96240" y="895949"/>
            <a:ext cx="34747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C5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96240" y="895949"/>
            <a:ext cx="3474720" cy="1036320"/>
          </a:xfrm>
          <a:prstGeom prst="rect">
            <a:avLst/>
          </a:prstGeom>
          <a:solidFill>
            <a:srgbClr val="1849A9"/>
          </a:solidFill>
        </p:spPr>
      </p:sp>
      <p:sp>
        <p:nvSpPr>
          <p:cNvPr id="5" name="Text 3"/>
          <p:cNvSpPr/>
          <p:nvPr/>
        </p:nvSpPr>
        <p:spPr>
          <a:xfrm>
            <a:off x="579120" y="993485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MST</a:t>
            </a:r>
            <a:endParaRPr lang="en-US" sz="2935" dirty="0">
              <a:latin typeface="+mn-lt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9120" y="1444589"/>
            <a:ext cx="31089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133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Merge Sharing Technique</a:t>
            </a:r>
            <a:endParaRPr lang="en-US" altLang="zh-CN" sz="1335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76109"/>
            <a:ext cx="298704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535" dirty="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如果查询 q 的整体结果可以被查询 q′ 直接复用，就把 q 作为 q′ 的子输入，省去 q′ 重新计算这部分的开销。</a:t>
            </a:r>
            <a:endParaRPr lang="en-US" sz="1535" dirty="0">
              <a:solidFill>
                <a:srgbClr val="37415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45000"/>
              </a:lnSpc>
              <a:buNone/>
            </a:pPr>
            <a:endParaRPr lang="en-US" sz="1535" dirty="0">
              <a:latin typeface="+mn-lt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79078" y="4159381"/>
            <a:ext cx="3108960" cy="0"/>
          </a:xfrm>
          <a:prstGeom prst="line">
            <a:avLst/>
          </a:prstGeom>
          <a:noFill/>
          <a:ln w="19050">
            <a:solidFill>
              <a:srgbClr val="B0B5BF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79120" y="4715596"/>
            <a:ext cx="3108960" cy="731520"/>
          </a:xfrm>
          <a:prstGeom prst="rect">
            <a:avLst/>
          </a:prstGeom>
          <a:solidFill>
            <a:srgbClr val="EEF4FF"/>
          </a:solidFill>
        </p:spPr>
      </p:sp>
      <p:sp>
        <p:nvSpPr>
          <p:cNvPr id="10" name="Text 8"/>
          <p:cNvSpPr/>
          <p:nvPr/>
        </p:nvSpPr>
        <p:spPr>
          <a:xfrm>
            <a:off x="701040" y="4776556"/>
            <a:ext cx="28651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+mn-lt"/>
                <a:ea typeface="+mn-ea"/>
                <a:cs typeface="+mn-cs"/>
              </a:rPr>
              <a:t>核心思路</a:t>
            </a:r>
            <a:endParaRPr lang="en-US" sz="1200" dirty="0">
              <a:latin typeface="+mn-lt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01040" y="5056972"/>
            <a:ext cx="2865120" cy="426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+mn-lt"/>
                <a:ea typeface="+mn-ea"/>
                <a:cs typeface="+mn-cs"/>
              </a:rPr>
              <a:t>整体查询级别的结果复用</a:t>
            </a:r>
            <a:endParaRPr lang="en-US" sz="1700" dirty="0">
              <a:latin typeface="+mn-lt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358640" y="895949"/>
            <a:ext cx="34747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C5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8640" y="895949"/>
            <a:ext cx="3474720" cy="1036320"/>
          </a:xfrm>
          <a:prstGeom prst="rect">
            <a:avLst/>
          </a:prstGeom>
          <a:solidFill>
            <a:srgbClr val="B42318"/>
          </a:solidFill>
        </p:spPr>
      </p:sp>
      <p:sp>
        <p:nvSpPr>
          <p:cNvPr id="14" name="Text 12"/>
          <p:cNvSpPr/>
          <p:nvPr/>
        </p:nvSpPr>
        <p:spPr>
          <a:xfrm>
            <a:off x="4541520" y="993485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DST</a:t>
            </a:r>
            <a:endParaRPr lang="en-US" sz="2935" dirty="0">
              <a:latin typeface="+mn-lt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41520" y="1444589"/>
            <a:ext cx="3348764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33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Decomposition Sharing Technique</a:t>
            </a:r>
            <a:endParaRPr lang="en-US" altLang="zh-CN" sz="1335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02480" y="2176109"/>
            <a:ext cx="298704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535" dirty="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先把每个查询分解成多个子查询，在子查询层面找共享，而不是整个查询层面。</a:t>
            </a:r>
            <a:endParaRPr lang="en-US" sz="1535" dirty="0">
              <a:latin typeface="+mn-lt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19627" y="4159400"/>
            <a:ext cx="3108960" cy="0"/>
          </a:xfrm>
          <a:prstGeom prst="line">
            <a:avLst/>
          </a:prstGeom>
          <a:noFill/>
          <a:ln w="19050">
            <a:solidFill>
              <a:srgbClr val="B0B5BF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41520" y="4715553"/>
            <a:ext cx="3108960" cy="731520"/>
          </a:xfrm>
          <a:prstGeom prst="rect">
            <a:avLst/>
          </a:prstGeom>
          <a:solidFill>
            <a:srgbClr val="FEF3F2"/>
          </a:solidFill>
        </p:spPr>
      </p:sp>
      <p:sp>
        <p:nvSpPr>
          <p:cNvPr id="19" name="Text 17"/>
          <p:cNvSpPr/>
          <p:nvPr/>
        </p:nvSpPr>
        <p:spPr>
          <a:xfrm>
            <a:off x="4663440" y="4776513"/>
            <a:ext cx="28651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+mn-lt"/>
                <a:ea typeface="+mn-ea"/>
                <a:cs typeface="+mn-cs"/>
              </a:rPr>
              <a:t>核心思路</a:t>
            </a:r>
            <a:endParaRPr lang="en-US" sz="1200" dirty="0">
              <a:latin typeface="+mn-lt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63440" y="5056929"/>
            <a:ext cx="2865120" cy="426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+mn-lt"/>
                <a:ea typeface="+mn-ea"/>
                <a:cs typeface="+mn-cs"/>
              </a:rPr>
              <a:t>分解后在子查询粒度寻找共享</a:t>
            </a:r>
            <a:endParaRPr lang="en-US" sz="1700" dirty="0">
              <a:latin typeface="+mn-lt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321040" y="895949"/>
            <a:ext cx="34747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C5C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21040" y="895949"/>
            <a:ext cx="3474720" cy="1036320"/>
          </a:xfrm>
          <a:prstGeom prst="rect">
            <a:avLst/>
          </a:prstGeom>
          <a:solidFill>
            <a:srgbClr val="067647"/>
          </a:solidFill>
        </p:spPr>
      </p:sp>
      <p:sp>
        <p:nvSpPr>
          <p:cNvPr id="23" name="Text 21"/>
          <p:cNvSpPr/>
          <p:nvPr/>
        </p:nvSpPr>
        <p:spPr>
          <a:xfrm>
            <a:off x="8503920" y="993485"/>
            <a:ext cx="31089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35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OTT</a:t>
            </a:r>
            <a:endParaRPr lang="en-US" sz="2935" dirty="0">
              <a:latin typeface="+mn-lt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503920" y="1444589"/>
            <a:ext cx="3108960" cy="3901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Operator Transformation </a:t>
            </a:r>
            <a:r>
              <a:rPr lang="en-US" altLang="zh-CN" sz="1335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Technique</a:t>
            </a:r>
            <a:endParaRPr lang="en-US" sz="1335" dirty="0">
              <a:latin typeface="+mn-lt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64880" y="2176109"/>
            <a:ext cx="298704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535" dirty="0">
                <a:solidFill>
                  <a:srgbClr val="374151"/>
                </a:solidFill>
                <a:latin typeface="+mn-lt"/>
                <a:ea typeface="+mn-ea"/>
                <a:cs typeface="+mn-cs"/>
              </a:rPr>
              <a:t>CEP 的三大算子 SEQ、CONJ、DISJ 之间存在语义等价变换，通过合适的 Filter 操作可以把一种算子表达为另一种算子加过滤。</a:t>
            </a:r>
            <a:endParaRPr lang="en-US" sz="1535" dirty="0">
              <a:solidFill>
                <a:srgbClr val="374151"/>
              </a:solidFill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145000"/>
              </a:lnSpc>
              <a:buNone/>
            </a:pPr>
            <a:endParaRPr lang="en-US" sz="1535" dirty="0">
              <a:solidFill>
                <a:srgbClr val="37415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03916" y="4159400"/>
            <a:ext cx="3108960" cy="0"/>
          </a:xfrm>
          <a:prstGeom prst="line">
            <a:avLst/>
          </a:prstGeom>
          <a:noFill/>
          <a:ln w="19050">
            <a:solidFill>
              <a:srgbClr val="B0B5B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8503920" y="4715553"/>
            <a:ext cx="3108960" cy="731520"/>
          </a:xfrm>
          <a:prstGeom prst="rect">
            <a:avLst/>
          </a:prstGeom>
          <a:solidFill>
            <a:srgbClr val="ECFDF3"/>
          </a:solidFill>
        </p:spPr>
      </p:sp>
      <p:sp>
        <p:nvSpPr>
          <p:cNvPr id="28" name="Text 26"/>
          <p:cNvSpPr/>
          <p:nvPr/>
        </p:nvSpPr>
        <p:spPr>
          <a:xfrm>
            <a:off x="8625840" y="4776513"/>
            <a:ext cx="2865120" cy="2682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+mn-lt"/>
                <a:ea typeface="+mn-ea"/>
                <a:cs typeface="+mn-cs"/>
              </a:rPr>
              <a:t>核心思路</a:t>
            </a:r>
            <a:endParaRPr lang="en-US" sz="1200" dirty="0">
              <a:latin typeface="+mn-lt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25840" y="5056929"/>
            <a:ext cx="2987082" cy="426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+mn-lt"/>
                <a:ea typeface="+mn-ea"/>
                <a:cs typeface="+mn-cs"/>
              </a:rPr>
              <a:t>算子等价变换 </a:t>
            </a:r>
            <a:r>
              <a:rPr lang="zh-CN" altLang="en-US" sz="1400" b="1" dirty="0">
                <a:solidFill>
                  <a:srgbClr val="1E3A5F"/>
                </a:solidFill>
                <a:latin typeface="+mn-lt"/>
                <a:ea typeface="+mn-ea"/>
                <a:cs typeface="+mn-cs"/>
              </a:rPr>
              <a:t>+ </a:t>
            </a:r>
            <a:r>
              <a:rPr lang="en-US" sz="1400" b="1" dirty="0">
                <a:solidFill>
                  <a:srgbClr val="1E3A5F"/>
                </a:solidFill>
                <a:latin typeface="+mn-lt"/>
                <a:ea typeface="+mn-ea"/>
                <a:cs typeface="+mn-cs"/>
              </a:rPr>
              <a:t>Filter 扩展共享范围</a:t>
            </a:r>
            <a:endParaRPr lang="en-US" sz="14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Shape 2"/>
          <p:cNvSpPr/>
          <p:nvPr/>
        </p:nvSpPr>
        <p:spPr>
          <a:xfrm>
            <a:off x="609600" y="577156"/>
            <a:ext cx="5242560" cy="463296"/>
          </a:xfrm>
          <a:prstGeom prst="rect">
            <a:avLst/>
          </a:prstGeom>
          <a:solidFill>
            <a:srgbClr val="EFF6FF"/>
          </a:solidFill>
        </p:spPr>
      </p:sp>
      <p:sp>
        <p:nvSpPr>
          <p:cNvPr id="5" name="Text 3"/>
          <p:cNvSpPr/>
          <p:nvPr/>
        </p:nvSpPr>
        <p:spPr>
          <a:xfrm>
            <a:off x="792480" y="577156"/>
            <a:ext cx="48768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一、嵌套查询处理</a:t>
            </a:r>
            <a:endParaRPr lang="en-US" sz="2100" dirty="0">
              <a:latin typeface="+mn-lt"/>
              <a:ea typeface="+mn-ea"/>
              <a:cs typeface="+mn-cs"/>
            </a:endParaRPr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731520" y="1308735"/>
            <a:ext cx="4998720" cy="670560"/>
            <a:chOff x="1152" y="2061"/>
            <a:chExt cx="7872" cy="1056"/>
          </a:xfrm>
        </p:grpSpPr>
        <p:sp>
          <p:nvSpPr>
            <p:cNvPr id="6" name="Shape 4"/>
            <p:cNvSpPr/>
            <p:nvPr/>
          </p:nvSpPr>
          <p:spPr>
            <a:xfrm>
              <a:off x="1152" y="2061"/>
              <a:ext cx="7872" cy="1056"/>
            </a:xfrm>
            <a:prstGeom prst="roundRect">
              <a:avLst>
                <a:gd name="adj" fmla="val 10909"/>
              </a:avLst>
            </a:prstGeom>
            <a:solidFill>
              <a:srgbClr val="DBEAFE"/>
            </a:solidFill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1440" y="2061"/>
              <a:ext cx="7296" cy="105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Step 1  </a:t>
              </a:r>
              <a:r>
                <a:rPr lang="en-US" sz="1700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识别嵌套层级（nested level）</a:t>
              </a:r>
              <a:endParaRPr lang="en-US" sz="1700" dirty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" name="Text 6"/>
          <p:cNvSpPr/>
          <p:nvPr/>
        </p:nvSpPr>
        <p:spPr>
          <a:xfrm>
            <a:off x="2926080" y="2097617"/>
            <a:ext cx="48768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3C5FD"/>
                </a:solidFill>
                <a:latin typeface="+mn-lt"/>
                <a:ea typeface="+mn-ea"/>
                <a:cs typeface="+mn-cs"/>
              </a:rPr>
              <a:t>▼</a:t>
            </a:r>
            <a:endParaRPr lang="en-US" sz="1600" dirty="0">
              <a:latin typeface="+mn-lt"/>
              <a:ea typeface="+mn-ea"/>
              <a:cs typeface="+mn-cs"/>
            </a:endParaRPr>
          </a:p>
        </p:txBody>
      </p:sp>
      <p:grpSp>
        <p:nvGrpSpPr>
          <p:cNvPr id="43" name="组合 42"/>
          <p:cNvGrpSpPr/>
          <p:nvPr userDrawn="1"/>
        </p:nvGrpSpPr>
        <p:grpSpPr>
          <a:xfrm>
            <a:off x="731520" y="2520738"/>
            <a:ext cx="4998720" cy="670560"/>
            <a:chOff x="1152" y="3664"/>
            <a:chExt cx="7872" cy="1056"/>
          </a:xfrm>
        </p:grpSpPr>
        <p:sp>
          <p:nvSpPr>
            <p:cNvPr id="9" name="Shape 7"/>
            <p:cNvSpPr/>
            <p:nvPr/>
          </p:nvSpPr>
          <p:spPr>
            <a:xfrm>
              <a:off x="1152" y="3664"/>
              <a:ext cx="7872" cy="1056"/>
            </a:xfrm>
            <a:prstGeom prst="roundRect">
              <a:avLst>
                <a:gd name="adj" fmla="val 10909"/>
              </a:avLst>
            </a:prstGeom>
            <a:solidFill>
              <a:srgbClr val="DBEAFE"/>
            </a:solidFill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0" name="Text 8"/>
            <p:cNvSpPr/>
            <p:nvPr/>
          </p:nvSpPr>
          <p:spPr>
            <a:xfrm>
              <a:off x="1440" y="3664"/>
              <a:ext cx="7296" cy="105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Step 2  </a:t>
              </a:r>
              <a:r>
                <a:rPr lang="en-US" sz="1700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由内向外逐层拆解为非嵌套子查询</a:t>
              </a:r>
              <a:endParaRPr lang="en-US" sz="1700" dirty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1" name="Text 9"/>
          <p:cNvSpPr/>
          <p:nvPr/>
        </p:nvSpPr>
        <p:spPr>
          <a:xfrm>
            <a:off x="2926057" y="3309620"/>
            <a:ext cx="48768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3C5FD"/>
                </a:solidFill>
                <a:latin typeface="+mn-lt"/>
                <a:ea typeface="+mn-ea"/>
                <a:cs typeface="+mn-cs"/>
              </a:rPr>
              <a:t>▼</a:t>
            </a:r>
            <a:endParaRPr lang="en-US" sz="1600" dirty="0">
              <a:latin typeface="+mn-lt"/>
              <a:ea typeface="+mn-ea"/>
              <a:cs typeface="+mn-cs"/>
            </a:endParaRPr>
          </a:p>
        </p:txBody>
      </p:sp>
      <p:grpSp>
        <p:nvGrpSpPr>
          <p:cNvPr id="42" name="组合 41"/>
          <p:cNvGrpSpPr/>
          <p:nvPr userDrawn="1"/>
        </p:nvGrpSpPr>
        <p:grpSpPr>
          <a:xfrm>
            <a:off x="731520" y="3732742"/>
            <a:ext cx="4998720" cy="670560"/>
            <a:chOff x="1152" y="5363"/>
            <a:chExt cx="7872" cy="1056"/>
          </a:xfrm>
        </p:grpSpPr>
        <p:sp>
          <p:nvSpPr>
            <p:cNvPr id="12" name="Shape 10"/>
            <p:cNvSpPr/>
            <p:nvPr/>
          </p:nvSpPr>
          <p:spPr>
            <a:xfrm>
              <a:off x="1152" y="5363"/>
              <a:ext cx="7872" cy="1056"/>
            </a:xfrm>
            <a:prstGeom prst="roundRect">
              <a:avLst>
                <a:gd name="adj" fmla="val 10909"/>
              </a:avLst>
            </a:prstGeom>
            <a:solidFill>
              <a:srgbClr val="DBEAFE"/>
            </a:solidFill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1440" y="5363"/>
              <a:ext cx="7296" cy="105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E40AF"/>
                  </a:solidFill>
                  <a:latin typeface="+mn-lt"/>
                  <a:ea typeface="+mn-ea"/>
                  <a:cs typeface="+mn-cs"/>
                </a:rPr>
                <a:t>Step 3  </a:t>
              </a:r>
              <a:r>
                <a:rPr lang="en-US" sz="1700" dirty="0">
                  <a:solidFill>
                    <a:srgbClr val="1E3A5F"/>
                  </a:solidFill>
                  <a:latin typeface="+mn-lt"/>
                  <a:ea typeface="+mn-ea"/>
                  <a:cs typeface="+mn-cs"/>
                </a:rPr>
                <a:t>在子查询对间应用 MST / DST / OTT</a:t>
              </a:r>
              <a:endParaRPr lang="en-US" sz="1700" dirty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4" name="Text 12"/>
          <p:cNvSpPr/>
          <p:nvPr/>
        </p:nvSpPr>
        <p:spPr>
          <a:xfrm>
            <a:off x="2926084" y="4521623"/>
            <a:ext cx="48768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3C5FD"/>
                </a:solidFill>
                <a:latin typeface="+mn-lt"/>
                <a:ea typeface="+mn-ea"/>
                <a:cs typeface="+mn-cs"/>
              </a:rPr>
              <a:t>▼</a:t>
            </a:r>
            <a:endParaRPr lang="en-US" sz="1600" dirty="0">
              <a:latin typeface="+mn-lt"/>
              <a:ea typeface="+mn-ea"/>
              <a:cs typeface="+mn-cs"/>
            </a:endParaRPr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731520" y="4944745"/>
            <a:ext cx="4998720" cy="670560"/>
            <a:chOff x="1152" y="7787"/>
            <a:chExt cx="7872" cy="1056"/>
          </a:xfrm>
        </p:grpSpPr>
        <p:sp>
          <p:nvSpPr>
            <p:cNvPr id="15" name="Shape 13"/>
            <p:cNvSpPr/>
            <p:nvPr/>
          </p:nvSpPr>
          <p:spPr>
            <a:xfrm>
              <a:off x="1152" y="7787"/>
              <a:ext cx="7872" cy="1056"/>
            </a:xfrm>
            <a:prstGeom prst="roundRect">
              <a:avLst>
                <a:gd name="adj" fmla="val 10909"/>
              </a:avLst>
            </a:prstGeom>
            <a:solidFill>
              <a:srgbClr val="DCFCE7"/>
            </a:solidFill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6" name="Text 14"/>
            <p:cNvSpPr/>
            <p:nvPr/>
          </p:nvSpPr>
          <p:spPr>
            <a:xfrm>
              <a:off x="1440" y="7787"/>
              <a:ext cx="7296" cy="105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结果  </a:t>
              </a:r>
              <a:r>
                <a:rPr lang="en-US" sz="1700" dirty="0">
                  <a:solidFill>
                    <a:srgbClr val="14532D"/>
                  </a:solidFill>
                  <a:latin typeface="+mn-lt"/>
                  <a:ea typeface="+mn-ea"/>
                  <a:cs typeface="+mn-cs"/>
                </a:rPr>
                <a:t>合并公共子查询，消除冗余计算</a:t>
              </a:r>
              <a:endParaRPr lang="en-US" sz="1700" dirty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Shape 15"/>
          <p:cNvSpPr/>
          <p:nvPr/>
        </p:nvSpPr>
        <p:spPr>
          <a:xfrm>
            <a:off x="6339840" y="577156"/>
            <a:ext cx="5242560" cy="463296"/>
          </a:xfrm>
          <a:prstGeom prst="rect">
            <a:avLst/>
          </a:prstGeom>
          <a:solidFill>
            <a:srgbClr val="FDF2F8"/>
          </a:solidFill>
        </p:spPr>
      </p:sp>
      <p:sp>
        <p:nvSpPr>
          <p:cNvPr id="18" name="Text 16"/>
          <p:cNvSpPr/>
          <p:nvPr/>
        </p:nvSpPr>
        <p:spPr>
          <a:xfrm>
            <a:off x="6522720" y="577156"/>
            <a:ext cx="48768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BE185D"/>
                </a:solidFill>
                <a:latin typeface="+mn-lt"/>
                <a:ea typeface="+mn-ea"/>
                <a:cs typeface="+mn-cs"/>
              </a:rPr>
              <a:t>二、异构窗口处理</a:t>
            </a:r>
            <a:endParaRPr lang="en-US" sz="2100" dirty="0">
              <a:latin typeface="+mn-lt"/>
              <a:ea typeface="+mn-ea"/>
              <a:cs typeface="+mn-cs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6461760" y="1308735"/>
            <a:ext cx="4998720" cy="1882572"/>
            <a:chOff x="10176" y="2061"/>
            <a:chExt cx="7872" cy="2458"/>
          </a:xfrm>
        </p:grpSpPr>
        <p:sp>
          <p:nvSpPr>
            <p:cNvPr id="19" name="Shape 17"/>
            <p:cNvSpPr/>
            <p:nvPr/>
          </p:nvSpPr>
          <p:spPr>
            <a:xfrm>
              <a:off x="10176" y="2061"/>
              <a:ext cx="7872" cy="2458"/>
            </a:xfrm>
            <a:prstGeom prst="roundRect">
              <a:avLst>
                <a:gd name="adj" fmla="val 4688"/>
              </a:avLst>
            </a:prstGeom>
            <a:solidFill>
              <a:srgbClr val="FFF1F2"/>
            </a:solidFill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0" name="Text 18"/>
            <p:cNvSpPr/>
            <p:nvPr/>
          </p:nvSpPr>
          <p:spPr>
            <a:xfrm>
              <a:off x="10464" y="2119"/>
              <a:ext cx="729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9F1239"/>
                  </a:solidFill>
                  <a:latin typeface="+mn-lt"/>
                  <a:ea typeface="+mn-ea"/>
                  <a:cs typeface="+mn-cs"/>
                </a:rPr>
                <a:t>Case 1：源查询窗口 &gt; 受益查询窗口</a:t>
              </a:r>
              <a:endParaRPr lang="en-US" sz="17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0464" y="2829"/>
              <a:ext cx="1344" cy="422"/>
            </a:xfrm>
            <a:prstGeom prst="roundRect">
              <a:avLst>
                <a:gd name="adj" fmla="val 18182"/>
              </a:avLst>
            </a:prstGeom>
            <a:solidFill>
              <a:srgbClr val="DCFCE7"/>
            </a:solidFill>
          </p:spPr>
        </p:sp>
        <p:sp>
          <p:nvSpPr>
            <p:cNvPr id="22" name="Text 20"/>
            <p:cNvSpPr/>
            <p:nvPr/>
          </p:nvSpPr>
          <p:spPr>
            <a:xfrm>
              <a:off x="10464" y="2829"/>
              <a:ext cx="1344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shared</a:t>
              </a:r>
              <a:endParaRPr lang="en-US" sz="13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12000" y="2829"/>
              <a:ext cx="5760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374151"/>
                  </a:solidFill>
                  <a:latin typeface="+mn-lt"/>
                  <a:ea typeface="+mn-ea"/>
                  <a:cs typeface="+mn-cs"/>
                </a:rPr>
                <a:t>E_last 在受益查询窗口内 → 正常共享</a:t>
              </a: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10464" y="3405"/>
              <a:ext cx="1344" cy="422"/>
            </a:xfrm>
            <a:prstGeom prst="roundRect">
              <a:avLst>
                <a:gd name="adj" fmla="val 18182"/>
              </a:avLst>
            </a:prstGeom>
            <a:solidFill>
              <a:srgbClr val="FEF3C7"/>
            </a:solidFill>
          </p:spPr>
        </p:sp>
        <p:sp>
          <p:nvSpPr>
            <p:cNvPr id="25" name="Text 23"/>
            <p:cNvSpPr/>
            <p:nvPr/>
          </p:nvSpPr>
          <p:spPr>
            <a:xfrm>
              <a:off x="10464" y="3405"/>
              <a:ext cx="1344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filtered</a:t>
              </a:r>
              <a:endParaRPr lang="en-US" sz="13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2000" y="3405"/>
              <a:ext cx="5760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374151"/>
                  </a:solidFill>
                </a:rPr>
                <a:t>超出受益窗口但在源窗口内 → 过滤</a:t>
              </a:r>
              <a:endParaRPr lang="en-US" sz="1600" dirty="0">
                <a:solidFill>
                  <a:srgbClr val="374151"/>
                </a:solidFill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10464" y="3981"/>
              <a:ext cx="1344" cy="422"/>
            </a:xfrm>
            <a:prstGeom prst="roundRect">
              <a:avLst>
                <a:gd name="adj" fmla="val 18182"/>
              </a:avLst>
            </a:prstGeom>
            <a:solidFill>
              <a:srgbClr val="FEE2E2"/>
            </a:solidFill>
          </p:spPr>
        </p:sp>
        <p:sp>
          <p:nvSpPr>
            <p:cNvPr id="28" name="Text 26"/>
            <p:cNvSpPr/>
            <p:nvPr/>
          </p:nvSpPr>
          <p:spPr>
            <a:xfrm>
              <a:off x="10464" y="3981"/>
              <a:ext cx="1344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discard</a:t>
              </a:r>
              <a:endParaRPr lang="en-US" sz="13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2000" y="3981"/>
              <a:ext cx="5760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374151"/>
                  </a:solidFill>
                  <a:latin typeface="+mn-lt"/>
                  <a:ea typeface="+mn-ea"/>
                  <a:cs typeface="+mn-cs"/>
                </a:rPr>
                <a:t>超出源查询窗口 → 安全丢弃</a:t>
              </a:r>
              <a:endParaRPr lang="en-US" sz="1600" dirty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0" name="Text 28"/>
          <p:cNvSpPr/>
          <p:nvPr/>
        </p:nvSpPr>
        <p:spPr>
          <a:xfrm>
            <a:off x="8717238" y="3309578"/>
            <a:ext cx="48768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9A8D4"/>
                </a:solidFill>
                <a:latin typeface="+mn-lt"/>
                <a:ea typeface="+mn-ea"/>
                <a:cs typeface="+mn-cs"/>
              </a:rPr>
              <a:t>▼</a:t>
            </a:r>
            <a:endParaRPr lang="en-US" sz="1600" dirty="0">
              <a:latin typeface="+mn-lt"/>
              <a:ea typeface="+mn-ea"/>
              <a:cs typeface="+mn-cs"/>
            </a:endParaRPr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6461791" y="3732783"/>
            <a:ext cx="4998720" cy="1914134"/>
            <a:chOff x="10176" y="5133"/>
            <a:chExt cx="7872" cy="2592"/>
          </a:xfrm>
        </p:grpSpPr>
        <p:sp>
          <p:nvSpPr>
            <p:cNvPr id="31" name="Shape 29"/>
            <p:cNvSpPr/>
            <p:nvPr/>
          </p:nvSpPr>
          <p:spPr>
            <a:xfrm>
              <a:off x="10176" y="5133"/>
              <a:ext cx="7872" cy="2592"/>
            </a:xfrm>
            <a:prstGeom prst="roundRect">
              <a:avLst>
                <a:gd name="adj" fmla="val 4444"/>
              </a:avLst>
            </a:prstGeom>
            <a:solidFill>
              <a:srgbClr val="FFF1F2"/>
            </a:solidFill>
            <a:effectLst>
              <a:outerShdw blurRad="50800" dist="1905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32" name="Text 30"/>
            <p:cNvSpPr/>
            <p:nvPr/>
          </p:nvSpPr>
          <p:spPr>
            <a:xfrm>
              <a:off x="10464" y="5191"/>
              <a:ext cx="7296" cy="57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9F1239"/>
                  </a:solidFill>
                  <a:latin typeface="+mn-lt"/>
                  <a:ea typeface="+mn-ea"/>
                  <a:cs typeface="+mn-cs"/>
                </a:rPr>
                <a:t>Case 2：源查询窗口 &lt; 受益查询窗口</a:t>
              </a:r>
              <a:endParaRPr lang="en-US" sz="17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0464" y="5843"/>
              <a:ext cx="2016" cy="422"/>
            </a:xfrm>
            <a:prstGeom prst="roundRect">
              <a:avLst>
                <a:gd name="adj" fmla="val 18182"/>
              </a:avLst>
            </a:prstGeom>
            <a:solidFill>
              <a:srgbClr val="FEE2E2"/>
            </a:solidFill>
          </p:spPr>
        </p:sp>
        <p:sp>
          <p:nvSpPr>
            <p:cNvPr id="34" name="Text 32"/>
            <p:cNvSpPr/>
            <p:nvPr/>
          </p:nvSpPr>
          <p:spPr>
            <a:xfrm>
              <a:off x="10464" y="5843"/>
              <a:ext cx="2016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991B1B"/>
                  </a:solidFill>
                  <a:latin typeface="+mn-lt"/>
                  <a:ea typeface="+mn-ea"/>
                  <a:cs typeface="+mn-cs"/>
                </a:rPr>
                <a:t>fail to share</a:t>
              </a:r>
              <a:endParaRPr lang="en-US" sz="13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2672" y="5843"/>
              <a:ext cx="5184" cy="42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374151"/>
                  </a:solidFill>
                  <a:latin typeface="+mn-lt"/>
                  <a:ea typeface="+mn-ea"/>
                  <a:cs typeface="+mn-cs"/>
                </a:rPr>
                <a:t>E_last 超出源窗口但在受益窗口内</a:t>
              </a:r>
              <a:endParaRPr lang="en-US" sz="15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10464" y="6419"/>
              <a:ext cx="2880" cy="38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9F1239"/>
                  </a:solidFill>
                  <a:latin typeface="+mn-lt"/>
                  <a:ea typeface="+mn-ea"/>
                  <a:cs typeface="+mn-cs"/>
                </a:rPr>
                <a:t>↓ 解决方案</a:t>
              </a:r>
              <a:endParaRPr lang="en-US" sz="1700" dirty="0"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10464" y="6861"/>
              <a:ext cx="7296" cy="672"/>
            </a:xfrm>
            <a:prstGeom prst="roundRect">
              <a:avLst>
                <a:gd name="adj" fmla="val 11429"/>
              </a:avLst>
            </a:prstGeom>
            <a:solidFill>
              <a:srgbClr val="DCFCE7"/>
            </a:solidFill>
          </p:spPr>
        </p:sp>
        <p:sp>
          <p:nvSpPr>
            <p:cNvPr id="38" name="Text 36"/>
            <p:cNvSpPr/>
            <p:nvPr/>
          </p:nvSpPr>
          <p:spPr>
            <a:xfrm>
              <a:off x="10656" y="6861"/>
              <a:ext cx="7296" cy="67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66534"/>
                  </a:solidFill>
                  <a:latin typeface="+mn-lt"/>
                  <a:ea typeface="+mn-ea"/>
                  <a:cs typeface="+mn-cs"/>
                </a:rPr>
                <a:t>扩展源查询窗口至受益查询大小</a:t>
              </a:r>
              <a:r>
                <a:rPr lang="en-US" sz="1300" dirty="0">
                  <a:solidFill>
                    <a:srgbClr val="14532D"/>
                  </a:solidFill>
                  <a:latin typeface="+mn-lt"/>
                  <a:ea typeface="+mn-ea"/>
                  <a:cs typeface="+mn-cs"/>
                </a:rPr>
                <a:t>，再用标记点过滤源查询结果</a:t>
              </a:r>
              <a:endParaRPr lang="en-US" sz="1300" dirty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9" name="Shape 37"/>
          <p:cNvSpPr/>
          <p:nvPr/>
        </p:nvSpPr>
        <p:spPr>
          <a:xfrm>
            <a:off x="609600" y="5919934"/>
            <a:ext cx="10972800" cy="5486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8"/>
          <p:cNvSpPr/>
          <p:nvPr/>
        </p:nvSpPr>
        <p:spPr>
          <a:xfrm>
            <a:off x="792480" y="5919934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40AF"/>
                </a:solidFill>
                <a:latin typeface="+mn-lt"/>
                <a:ea typeface="+mn-ea"/>
                <a:cs typeface="+mn-cs"/>
              </a:rPr>
              <a:t>设计哲学：</a:t>
            </a:r>
            <a:r>
              <a:rPr lang="en-US" sz="1700" dirty="0">
                <a:solidFill>
                  <a:srgbClr val="475569"/>
                </a:solidFill>
                <a:latin typeface="+mn-lt"/>
                <a:ea typeface="+mn-ea"/>
                <a:cs typeface="+mn-cs"/>
              </a:rPr>
              <a:t>嵌套 → 分层扁平化   |   异构窗口 → 先共享再 Filter 过滤   |   开销大于收益则放弃共享</a:t>
            </a:r>
            <a:endParaRPr lang="en-US" sz="17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文本框 36"/>
          <p:cNvSpPr txBox="1"/>
          <p:nvPr userDrawn="1"/>
        </p:nvSpPr>
        <p:spPr>
          <a:xfrm>
            <a:off x="290945" y="464878"/>
            <a:ext cx="4036695" cy="460375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en-US" altLang="zh-CN" sz="2400" b="1">
                <a:latin typeface="+mn-lt"/>
                <a:ea typeface="+mn-ea"/>
                <a:cs typeface="+mn-cs"/>
              </a:rPr>
              <a:t>Query Planner</a:t>
            </a:r>
            <a:r>
              <a:rPr lang="zh-CN" altLang="en-US" sz="2400" b="1">
                <a:latin typeface="+mn-lt"/>
                <a:ea typeface="+mn-ea"/>
                <a:cs typeface="+mn-cs"/>
              </a:rPr>
              <a:t>查询规划器</a:t>
            </a:r>
            <a:endParaRPr lang="zh-CN" altLang="en-US" sz="2400" b="1">
              <a:latin typeface="+mn-lt"/>
              <a:ea typeface="+mn-ea"/>
              <a:cs typeface="+mn-cs"/>
            </a:endParaRPr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478155" y="1178560"/>
            <a:ext cx="11235690" cy="5033010"/>
            <a:chOff x="753" y="1856"/>
            <a:chExt cx="17694" cy="7926"/>
          </a:xfrm>
        </p:grpSpPr>
        <p:pic>
          <p:nvPicPr>
            <p:cNvPr id="17" name="图片 16" descr="post_object_image_2045354315"/>
            <p:cNvPicPr>
              <a:picLocks noChangeAspect="1"/>
            </p:cNvPicPr>
            <p:nvPr/>
          </p:nvPicPr>
          <p:blipFill>
            <a:blip r:embed="rId1"/>
            <a:srcRect t="8973" b="9282"/>
            <a:stretch>
              <a:fillRect/>
            </a:stretch>
          </p:blipFill>
          <p:spPr>
            <a:xfrm>
              <a:off x="753" y="1856"/>
              <a:ext cx="17694" cy="7926"/>
            </a:xfrm>
            <a:prstGeom prst="rect">
              <a:avLst/>
            </a:prstGeom>
          </p:spPr>
        </p:pic>
        <p:sp>
          <p:nvSpPr>
            <p:cNvPr id="8" name="矩形 7"/>
            <p:cNvSpPr/>
            <p:nvPr userDrawn="1"/>
          </p:nvSpPr>
          <p:spPr>
            <a:xfrm>
              <a:off x="7937" y="2909"/>
              <a:ext cx="4063" cy="375"/>
            </a:xfrm>
            <a:prstGeom prst="rect">
              <a:avLst/>
            </a:prstGeom>
            <a:solidFill>
              <a:srgbClr val="FAFCFE">
                <a:alpha val="100000"/>
              </a:srgbClr>
            </a:solidFill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00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10462" y="4133"/>
              <a:ext cx="751" cy="363"/>
            </a:xfrm>
            <a:prstGeom prst="rect">
              <a:avLst/>
            </a:prstGeom>
            <a:solidFill>
              <a:srgbClr val="FAFCFE">
                <a:alpha val="100000"/>
              </a:srgbClr>
            </a:solidFill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00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10462" y="7595"/>
              <a:ext cx="751" cy="363"/>
            </a:xfrm>
            <a:prstGeom prst="rect">
              <a:avLst/>
            </a:prstGeom>
            <a:solidFill>
              <a:srgbClr val="FAFCFE">
                <a:alpha val="100000"/>
              </a:srgbClr>
            </a:solidFill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00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687" y="8345"/>
              <a:ext cx="2326" cy="363"/>
            </a:xfrm>
            <a:prstGeom prst="rect">
              <a:avLst/>
            </a:prstGeom>
            <a:solidFill>
              <a:srgbClr val="FAFCFE">
                <a:alpha val="100000"/>
              </a:srgbClr>
            </a:solidFill>
            <a:ln w="127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p>
              <a:pPr algn="ctr"/>
              <a:endParaRPr lang="zh-CN" altLang="en-US">
                <a:solidFill>
                  <a:srgbClr val="000000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3" name="组合 22"/>
          <p:cNvGrpSpPr/>
          <p:nvPr userDrawn="1"/>
        </p:nvGrpSpPr>
        <p:grpSpPr>
          <a:xfrm>
            <a:off x="6556101" y="1214928"/>
            <a:ext cx="3413760" cy="1784350"/>
            <a:chOff x="3792" y="1536"/>
            <a:chExt cx="5376" cy="2810"/>
          </a:xfrm>
        </p:grpSpPr>
        <p:sp>
          <p:nvSpPr>
            <p:cNvPr id="24" name="Shape 0"/>
            <p:cNvSpPr/>
            <p:nvPr/>
          </p:nvSpPr>
          <p:spPr>
            <a:xfrm>
              <a:off x="3792" y="1536"/>
              <a:ext cx="5376" cy="268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C5CE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25" name="Shape 1"/>
            <p:cNvSpPr/>
            <p:nvPr/>
          </p:nvSpPr>
          <p:spPr>
            <a:xfrm>
              <a:off x="3830" y="1574"/>
              <a:ext cx="5299" cy="2022"/>
            </a:xfrm>
            <a:prstGeom prst="rect">
              <a:avLst/>
            </a:prstGeom>
            <a:solidFill>
              <a:srgbClr val="EEF4FF"/>
            </a:solidFill>
          </p:spPr>
        </p:sp>
        <p:sp>
          <p:nvSpPr>
            <p:cNvPr id="26" name="Shape 4"/>
            <p:cNvSpPr/>
            <p:nvPr/>
          </p:nvSpPr>
          <p:spPr>
            <a:xfrm>
              <a:off x="4176" y="2667"/>
              <a:ext cx="4608" cy="730"/>
            </a:xfrm>
            <a:prstGeom prst="rect">
              <a:avLst/>
            </a:prstGeom>
            <a:solidFill>
              <a:srgbClr val="D1E0FF"/>
            </a:solidFill>
          </p:spPr>
        </p:sp>
        <p:sp>
          <p:nvSpPr>
            <p:cNvPr id="27" name="Text 5"/>
            <p:cNvSpPr/>
            <p:nvPr/>
          </p:nvSpPr>
          <p:spPr>
            <a:xfrm>
              <a:off x="4176" y="2667"/>
              <a:ext cx="4608" cy="7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b="1">
                  <a:solidFill>
                    <a:srgbClr val="1849A9"/>
                  </a:solidFill>
                  <a:latin typeface="+mn-lt"/>
                  <a:ea typeface="+mn-ea"/>
                  <a:cs typeface="+mn-cs"/>
                </a:rPr>
                <a:t>3</a:t>
              </a:r>
              <a:r>
                <a:rPr lang="en-US" altLang="zh-CN" b="1">
                  <a:solidFill>
                    <a:srgbClr val="1849A9"/>
                  </a:solidFill>
                  <a:latin typeface="+mn-lt"/>
                  <a:ea typeface="+mn-ea"/>
                  <a:cs typeface="+mn-cs"/>
                </a:rPr>
                <a:t>6</a:t>
              </a:r>
              <a:r>
                <a:rPr lang="zh-CN" altLang="en-US" b="1">
                  <a:solidFill>
                    <a:srgbClr val="1849A9"/>
                  </a:solidFill>
                  <a:latin typeface="+mn-lt"/>
                  <a:ea typeface="+mn-ea"/>
                  <a:cs typeface="+mn-cs"/>
                </a:rPr>
                <a:t>种事件类型</a:t>
              </a:r>
              <a:endParaRPr lang="en-US" b="1">
                <a:solidFill>
                  <a:srgbClr val="1849A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Shape 8"/>
            <p:cNvSpPr/>
            <p:nvPr/>
          </p:nvSpPr>
          <p:spPr>
            <a:xfrm>
              <a:off x="4080" y="3610"/>
              <a:ext cx="4800" cy="0"/>
            </a:xfrm>
            <a:prstGeom prst="line">
              <a:avLst/>
            </a:prstGeom>
            <a:noFill/>
            <a:ln w="19050">
              <a:solidFill>
                <a:srgbClr val="B0B5BF"/>
              </a:solidFill>
              <a:prstDash val="dash"/>
            </a:ln>
          </p:spPr>
        </p:sp>
        <p:sp>
          <p:nvSpPr>
            <p:cNvPr id="29" name="Text 10"/>
            <p:cNvSpPr/>
            <p:nvPr/>
          </p:nvSpPr>
          <p:spPr>
            <a:xfrm>
              <a:off x="4806" y="3610"/>
              <a:ext cx="3349" cy="7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 defTabSz="0" rtl="0" eaLnBrk="1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b="1">
                  <a:solidFill>
                    <a:srgbClr val="0339C4"/>
                  </a:solidFill>
                  <a:latin typeface="+mn-lt"/>
                  <a:ea typeface="+mn-ea"/>
                  <a:cs typeface="+mn-cs"/>
                </a:rPr>
                <a:t>数据中心监控数据集</a:t>
              </a:r>
              <a:endParaRPr lang="zh-CN" altLang="en-US" b="1">
                <a:solidFill>
                  <a:srgbClr val="0339C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Shape 4"/>
            <p:cNvSpPr/>
            <p:nvPr/>
          </p:nvSpPr>
          <p:spPr>
            <a:xfrm>
              <a:off x="4176" y="1750"/>
              <a:ext cx="4608" cy="730"/>
            </a:xfrm>
            <a:prstGeom prst="rect">
              <a:avLst/>
            </a:prstGeom>
            <a:solidFill>
              <a:srgbClr val="D1E0FF"/>
            </a:solidFill>
          </p:spPr>
        </p:sp>
        <p:sp>
          <p:nvSpPr>
            <p:cNvPr id="31" name="Text 5"/>
            <p:cNvSpPr/>
            <p:nvPr/>
          </p:nvSpPr>
          <p:spPr>
            <a:xfrm>
              <a:off x="4176" y="1750"/>
              <a:ext cx="4608" cy="73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1849A9"/>
                  </a:solidFill>
                  <a:latin typeface="+mn-lt"/>
                  <a:ea typeface="+mn-ea"/>
                  <a:cs typeface="+mn-cs"/>
                </a:rPr>
                <a:t>4</a:t>
              </a:r>
              <a:r>
                <a:rPr lang="en-US" altLang="zh-CN" b="1">
                  <a:solidFill>
                    <a:srgbClr val="1849A9"/>
                  </a:solidFill>
                  <a:latin typeface="+mn-lt"/>
                  <a:ea typeface="+mn-ea"/>
                  <a:cs typeface="+mn-cs"/>
                </a:rPr>
                <a:t>00</a:t>
              </a:r>
              <a:r>
                <a:rPr lang="zh-CN" altLang="en-US" b="1">
                  <a:solidFill>
                    <a:srgbClr val="1849A9"/>
                  </a:solidFill>
                  <a:latin typeface="+mn-lt"/>
                  <a:ea typeface="+mn-ea"/>
                  <a:cs typeface="+mn-cs"/>
                </a:rPr>
                <a:t>万个事件</a:t>
              </a:r>
              <a:endParaRPr lang="en-US" b="1">
                <a:solidFill>
                  <a:srgbClr val="1849A9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2222500" y="1214755"/>
            <a:ext cx="3413760" cy="1784350"/>
            <a:chOff x="10325" y="1913"/>
            <a:chExt cx="5376" cy="2810"/>
          </a:xfrm>
        </p:grpSpPr>
        <p:sp>
          <p:nvSpPr>
            <p:cNvPr id="15" name="Shape 0"/>
            <p:cNvSpPr/>
            <p:nvPr/>
          </p:nvSpPr>
          <p:spPr>
            <a:xfrm>
              <a:off x="10325" y="1913"/>
              <a:ext cx="5376" cy="268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C5CE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6" name="Shape 1"/>
            <p:cNvSpPr/>
            <p:nvPr/>
          </p:nvSpPr>
          <p:spPr>
            <a:xfrm>
              <a:off x="10363" y="1951"/>
              <a:ext cx="5299" cy="2022"/>
            </a:xfrm>
            <a:prstGeom prst="rect">
              <a:avLst/>
            </a:prstGeom>
            <a:solidFill>
              <a:srgbClr val="FEF3F2">
                <a:alpha val="100000"/>
              </a:srgbClr>
            </a:solidFill>
          </p:spPr>
        </p:sp>
        <p:sp>
          <p:nvSpPr>
            <p:cNvPr id="17" name="Shape 4"/>
            <p:cNvSpPr/>
            <p:nvPr/>
          </p:nvSpPr>
          <p:spPr>
            <a:xfrm>
              <a:off x="10709" y="3044"/>
              <a:ext cx="4608" cy="730"/>
            </a:xfrm>
            <a:prstGeom prst="rect">
              <a:avLst/>
            </a:prstGeom>
            <a:solidFill>
              <a:srgbClr val="D1E0FF"/>
            </a:solidFill>
          </p:spPr>
        </p:sp>
        <p:sp>
          <p:nvSpPr>
            <p:cNvPr id="18" name="Text 5"/>
            <p:cNvSpPr/>
            <p:nvPr/>
          </p:nvSpPr>
          <p:spPr>
            <a:xfrm>
              <a:off x="10709" y="3044"/>
              <a:ext cx="4608" cy="730"/>
            </a:xfrm>
            <a:prstGeom prst="rect">
              <a:avLst/>
            </a:prstGeom>
            <a:solidFill>
              <a:srgbClr val="FECDCA">
                <a:alpha val="100000"/>
              </a:srgbClr>
            </a:solidFill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CN" altLang="en-US" b="1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en-US" altLang="zh-CN" b="1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</a:t>
              </a:r>
              <a:r>
                <a:rPr lang="zh-CN" altLang="en-US" b="1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种事件类型</a:t>
              </a:r>
              <a:endParaRPr lang="en-US" b="1">
                <a:solidFill>
                  <a:srgbClr val="B4231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Shape 8"/>
            <p:cNvSpPr/>
            <p:nvPr/>
          </p:nvSpPr>
          <p:spPr>
            <a:xfrm>
              <a:off x="10613" y="3987"/>
              <a:ext cx="4800" cy="0"/>
            </a:xfrm>
            <a:prstGeom prst="line">
              <a:avLst/>
            </a:prstGeom>
            <a:noFill/>
            <a:ln w="19050">
              <a:solidFill>
                <a:srgbClr val="B0B5BF"/>
              </a:solidFill>
              <a:prstDash val="dash"/>
            </a:ln>
          </p:spPr>
        </p:sp>
        <p:sp>
          <p:nvSpPr>
            <p:cNvPr id="20" name="Text 10"/>
            <p:cNvSpPr/>
            <p:nvPr/>
          </p:nvSpPr>
          <p:spPr>
            <a:xfrm>
              <a:off x="11339" y="3987"/>
              <a:ext cx="3349" cy="7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zh-CN" altLang="en-US" b="1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股票交易事件数据集</a:t>
              </a:r>
              <a:endParaRPr lang="zh-CN" altLang="en-US" b="1">
                <a:solidFill>
                  <a:srgbClr val="B4231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Shape 4"/>
            <p:cNvSpPr/>
            <p:nvPr/>
          </p:nvSpPr>
          <p:spPr>
            <a:xfrm>
              <a:off x="10709" y="2127"/>
              <a:ext cx="4608" cy="730"/>
            </a:xfrm>
            <a:prstGeom prst="rect">
              <a:avLst/>
            </a:prstGeom>
            <a:solidFill>
              <a:srgbClr val="D1E0FF"/>
            </a:solidFill>
          </p:spPr>
        </p:sp>
        <p:sp>
          <p:nvSpPr>
            <p:cNvPr id="22" name="Text 5"/>
            <p:cNvSpPr/>
            <p:nvPr/>
          </p:nvSpPr>
          <p:spPr>
            <a:xfrm>
              <a:off x="10709" y="2127"/>
              <a:ext cx="4608" cy="730"/>
            </a:xfrm>
            <a:prstGeom prst="rect">
              <a:avLst/>
            </a:prstGeom>
            <a:solidFill>
              <a:srgbClr val="FECDCA">
                <a:alpha val="100000"/>
              </a:srgbClr>
            </a:solidFill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b="1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200</a:t>
              </a:r>
              <a:r>
                <a:rPr lang="zh-CN" altLang="en-US" b="1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万条交易</a:t>
              </a:r>
              <a:endParaRPr lang="zh-CN" altLang="en-US">
                <a:solidFill>
                  <a:srgbClr val="B42318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3" name="圆角矩形 102"/>
          <p:cNvSpPr/>
          <p:nvPr userDrawn="1"/>
        </p:nvSpPr>
        <p:spPr>
          <a:xfrm>
            <a:off x="1827227" y="1024746"/>
            <a:ext cx="8537575" cy="2329238"/>
          </a:xfrm>
          <a:prstGeom prst="roundRect">
            <a:avLst/>
          </a:prstGeom>
          <a:noFill/>
          <a:ln w="57150" cmpd="sng">
            <a:solidFill>
              <a:schemeClr val="bg2">
                <a:lumMod val="90000"/>
                <a:alpha val="10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" name="文本框 103"/>
          <p:cNvSpPr txBox="1"/>
          <p:nvPr userDrawn="1"/>
        </p:nvSpPr>
        <p:spPr>
          <a:xfrm>
            <a:off x="5661703" y="2921404"/>
            <a:ext cx="870585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ctr"/>
            <a:r>
              <a:rPr lang="zh-CN" altLang="en-US" b="1">
                <a:latin typeface="+mn-lt"/>
                <a:ea typeface="+mn-ea"/>
                <a:cs typeface="+mn-cs"/>
              </a:rPr>
              <a:t>数据集</a:t>
            </a:r>
            <a:endParaRPr lang="zh-CN" altLang="en-US" b="1">
              <a:latin typeface="+mn-lt"/>
              <a:ea typeface="+mn-ea"/>
              <a:cs typeface="+mn-cs"/>
            </a:endParaRPr>
          </a:p>
        </p:txBody>
      </p:sp>
      <p:sp>
        <p:nvSpPr>
          <p:cNvPr id="105" name="圆角矩形 104"/>
          <p:cNvSpPr/>
          <p:nvPr userDrawn="1"/>
        </p:nvSpPr>
        <p:spPr>
          <a:xfrm>
            <a:off x="1827198" y="3718829"/>
            <a:ext cx="8537575" cy="2779511"/>
          </a:xfrm>
          <a:prstGeom prst="roundRect">
            <a:avLst/>
          </a:prstGeom>
          <a:noFill/>
          <a:ln w="57150" cmpd="sng">
            <a:solidFill>
              <a:schemeClr val="bg2">
                <a:lumMod val="90000"/>
                <a:alpha val="10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06" name="组合 105"/>
          <p:cNvGrpSpPr/>
          <p:nvPr userDrawn="1"/>
        </p:nvGrpSpPr>
        <p:grpSpPr>
          <a:xfrm>
            <a:off x="6580251" y="3909012"/>
            <a:ext cx="3413760" cy="2252980"/>
            <a:chOff x="3792" y="1536"/>
            <a:chExt cx="5376" cy="3548"/>
          </a:xfrm>
        </p:grpSpPr>
        <p:sp>
          <p:nvSpPr>
            <p:cNvPr id="107" name="Shape 0"/>
            <p:cNvSpPr/>
            <p:nvPr/>
          </p:nvSpPr>
          <p:spPr>
            <a:xfrm>
              <a:off x="3792" y="1536"/>
              <a:ext cx="5376" cy="3369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C5CE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08" name="Shape 1"/>
            <p:cNvSpPr/>
            <p:nvPr/>
          </p:nvSpPr>
          <p:spPr>
            <a:xfrm>
              <a:off x="3830" y="1574"/>
              <a:ext cx="5299" cy="2773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100000"/>
              </a:schemeClr>
            </a:solidFill>
          </p:spPr>
        </p:sp>
        <p:sp>
          <p:nvSpPr>
            <p:cNvPr id="110" name="Text 5"/>
            <p:cNvSpPr/>
            <p:nvPr/>
          </p:nvSpPr>
          <p:spPr>
            <a:xfrm>
              <a:off x="4176" y="2595"/>
              <a:ext cx="4608" cy="73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100000"/>
              </a:schemeClr>
            </a:solidFill>
          </p:spPr>
          <p:txBody>
            <a:bodyPr wrap="square" lIns="0" tIns="0" rIns="0" bIns="0" rtlCol="0" anchor="ctr"/>
            <a:lstStyle/>
            <a:p>
              <a:pPr marL="0" indent="0" algn="ctr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b="1">
                  <a:solidFill>
                    <a:schemeClr val="accent2">
                      <a:lumMod val="75000"/>
                    </a:schemeClr>
                  </a:solidFill>
                  <a:latin typeface="+mn-lt"/>
                  <a:ea typeface="+mn-ea"/>
                  <a:cs typeface="+mn-cs"/>
                </a:rPr>
                <a:t>M</a:t>
              </a:r>
              <a:r>
                <a:rPr lang="en-US" altLang="zh-CN" b="1">
                  <a:solidFill>
                    <a:schemeClr val="accent2">
                      <a:lumMod val="75000"/>
                    </a:schemeClr>
                  </a:solidFill>
                  <a:latin typeface="+mn-lt"/>
                  <a:ea typeface="+mn-ea"/>
                  <a:cs typeface="+mn-cs"/>
                </a:rPr>
                <a:t>ST</a:t>
              </a:r>
              <a:r>
                <a:rPr lang="zh-CN" altLang="en-US" b="1">
                  <a:solidFill>
                    <a:schemeClr val="accent2">
                      <a:lumMod val="75000"/>
                    </a:schemeClr>
                  </a:solidFill>
                  <a:latin typeface="+mn-lt"/>
                  <a:ea typeface="+mn-ea"/>
                  <a:cs typeface="+mn-cs"/>
                </a:rPr>
                <a:t>合并共享技术</a:t>
              </a:r>
              <a:endParaRPr lang="en-US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1" name="Shape 8"/>
            <p:cNvSpPr/>
            <p:nvPr/>
          </p:nvSpPr>
          <p:spPr>
            <a:xfrm>
              <a:off x="4080" y="4347"/>
              <a:ext cx="4800" cy="0"/>
            </a:xfrm>
            <a:prstGeom prst="line">
              <a:avLst/>
            </a:prstGeom>
            <a:noFill/>
            <a:ln w="19050">
              <a:solidFill>
                <a:srgbClr val="B0B5BF"/>
              </a:solidFill>
              <a:prstDash val="dash"/>
            </a:ln>
          </p:spPr>
        </p:sp>
        <p:sp>
          <p:nvSpPr>
            <p:cNvPr id="112" name="Text 10"/>
            <p:cNvSpPr/>
            <p:nvPr/>
          </p:nvSpPr>
          <p:spPr>
            <a:xfrm>
              <a:off x="4806" y="4347"/>
              <a:ext cx="3349" cy="7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 defTabSz="0" rtl="0" eaLnBrk="1" latinLnBrk="0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b="1">
                  <a:solidFill>
                    <a:schemeClr val="accent2">
                      <a:lumMod val="75000"/>
                    </a:schemeClr>
                  </a:solidFill>
                  <a:latin typeface="+mn-lt"/>
                  <a:ea typeface="+mn-ea"/>
                  <a:cs typeface="+mn-cs"/>
                </a:rPr>
                <a:t>对比技术</a:t>
              </a:r>
              <a:endParaRPr lang="zh-CN" altLang="en-US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4" name="Text 5"/>
            <p:cNvSpPr/>
            <p:nvPr/>
          </p:nvSpPr>
          <p:spPr>
            <a:xfrm>
              <a:off x="4176" y="1736"/>
              <a:ext cx="4608" cy="730"/>
            </a:xfrm>
            <a:prstGeom prst="rect">
              <a:avLst/>
            </a:prstGeom>
            <a:solidFill>
              <a:schemeClr val="accent2">
                <a:lumMod val="40000"/>
                <a:lumOff val="60000"/>
                <a:alpha val="100000"/>
              </a:schemeClr>
            </a:solidFill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chemeClr val="accent2">
                      <a:lumMod val="75000"/>
                    </a:schemeClr>
                  </a:solidFill>
                  <a:latin typeface="+mn-lt"/>
                  <a:ea typeface="+mn-ea"/>
                  <a:cs typeface="+mn-cs"/>
                </a:rPr>
                <a:t>N</a:t>
              </a:r>
              <a:r>
                <a:rPr lang="en-US" altLang="zh-CN" b="1">
                  <a:solidFill>
                    <a:schemeClr val="accent2">
                      <a:lumMod val="75000"/>
                    </a:schemeClr>
                  </a:solidFill>
                  <a:latin typeface="+mn-lt"/>
                  <a:ea typeface="+mn-ea"/>
                  <a:cs typeface="+mn-cs"/>
                </a:rPr>
                <a:t>A</a:t>
              </a:r>
              <a:r>
                <a:rPr lang="zh-CN" altLang="en-US" b="1">
                  <a:solidFill>
                    <a:schemeClr val="accent2">
                      <a:lumMod val="75000"/>
                    </a:schemeClr>
                  </a:solidFill>
                  <a:latin typeface="+mn-lt"/>
                  <a:ea typeface="+mn-ea"/>
                  <a:cs typeface="+mn-cs"/>
                </a:rPr>
                <a:t>基准测试</a:t>
              </a:r>
              <a:endParaRPr lang="en-US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5" name="组合 114"/>
          <p:cNvGrpSpPr/>
          <p:nvPr userDrawn="1"/>
        </p:nvGrpSpPr>
        <p:grpSpPr>
          <a:xfrm>
            <a:off x="2246662" y="4152900"/>
            <a:ext cx="3413760" cy="1784350"/>
            <a:chOff x="3792" y="1536"/>
            <a:chExt cx="5376" cy="2810"/>
          </a:xfrm>
        </p:grpSpPr>
        <p:sp>
          <p:nvSpPr>
            <p:cNvPr id="116" name="Shape 0"/>
            <p:cNvSpPr/>
            <p:nvPr/>
          </p:nvSpPr>
          <p:spPr>
            <a:xfrm>
              <a:off x="3792" y="1536"/>
              <a:ext cx="5376" cy="268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C0C5CE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8000"/>
                </a:srgbClr>
              </a:outerShdw>
            </a:effectLst>
          </p:spPr>
        </p:sp>
        <p:sp>
          <p:nvSpPr>
            <p:cNvPr id="117" name="Shape 1"/>
            <p:cNvSpPr/>
            <p:nvPr/>
          </p:nvSpPr>
          <p:spPr>
            <a:xfrm>
              <a:off x="3830" y="1574"/>
              <a:ext cx="5299" cy="2022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100000"/>
              </a:schemeClr>
            </a:solidFill>
          </p:spPr>
        </p:sp>
        <p:sp>
          <p:nvSpPr>
            <p:cNvPr id="118" name="Shape 4"/>
            <p:cNvSpPr/>
            <p:nvPr/>
          </p:nvSpPr>
          <p:spPr>
            <a:xfrm>
              <a:off x="4176" y="2667"/>
              <a:ext cx="4608" cy="730"/>
            </a:xfrm>
            <a:prstGeom prst="rect">
              <a:avLst/>
            </a:prstGeom>
            <a:solidFill>
              <a:srgbClr val="D1E0FF"/>
            </a:solidFill>
          </p:spPr>
        </p:sp>
        <p:sp>
          <p:nvSpPr>
            <p:cNvPr id="119" name="Text 5"/>
            <p:cNvSpPr/>
            <p:nvPr/>
          </p:nvSpPr>
          <p:spPr>
            <a:xfrm>
              <a:off x="4176" y="2667"/>
              <a:ext cx="4608" cy="730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100000"/>
              </a:schemeClr>
            </a:solidFill>
          </p:spPr>
          <p:txBody>
            <a:bodyPr wrap="square" lIns="0" tIns="0" rIns="0" bIns="0" rtlCol="0" anchor="ctr"/>
            <a:lstStyle/>
            <a:p>
              <a:pPr marL="0" indent="0" algn="ctr" defTabSz="0" rtl="0" eaLnBrk="1" latinLnBrk="0" hangingPunct="1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zh-CN" altLang="en-US" b="1">
                  <a:solidFill>
                    <a:schemeClr val="accent6">
                      <a:lumMod val="75000"/>
                    </a:schemeClr>
                  </a:solidFill>
                  <a:latin typeface="+mn-lt"/>
                  <a:ea typeface="+mn-ea"/>
                  <a:cs typeface="+mn-cs"/>
                </a:rPr>
                <a:t>敏感性研究</a:t>
              </a:r>
              <a:endParaRPr lang="en-US" b="1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0" name="Shape 8"/>
            <p:cNvSpPr/>
            <p:nvPr/>
          </p:nvSpPr>
          <p:spPr>
            <a:xfrm>
              <a:off x="4080" y="3610"/>
              <a:ext cx="4800" cy="0"/>
            </a:xfrm>
            <a:prstGeom prst="line">
              <a:avLst/>
            </a:prstGeom>
            <a:noFill/>
            <a:ln w="19050">
              <a:solidFill>
                <a:srgbClr val="B0B5BF"/>
              </a:solidFill>
              <a:prstDash val="dash"/>
            </a:ln>
          </p:spPr>
        </p:sp>
        <p:sp>
          <p:nvSpPr>
            <p:cNvPr id="121" name="Text 10"/>
            <p:cNvSpPr/>
            <p:nvPr/>
          </p:nvSpPr>
          <p:spPr>
            <a:xfrm>
              <a:off x="4806" y="3610"/>
              <a:ext cx="3349" cy="737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zh-CN" altLang="en-US" b="1">
                  <a:solidFill>
                    <a:schemeClr val="accent6">
                      <a:lumMod val="75000"/>
                    </a:schemeClr>
                  </a:solidFill>
                  <a:latin typeface="+mn-lt"/>
                  <a:ea typeface="+mn-ea"/>
                  <a:cs typeface="+mn-cs"/>
                </a:rPr>
                <a:t>对比实验</a:t>
              </a:r>
              <a:endParaRPr lang="zh-CN" altLang="en-US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2" name="Shape 4"/>
            <p:cNvSpPr/>
            <p:nvPr/>
          </p:nvSpPr>
          <p:spPr>
            <a:xfrm>
              <a:off x="4176" y="1750"/>
              <a:ext cx="4608" cy="730"/>
            </a:xfrm>
            <a:prstGeom prst="rect">
              <a:avLst/>
            </a:prstGeom>
            <a:solidFill>
              <a:srgbClr val="D1E0FF"/>
            </a:solidFill>
          </p:spPr>
        </p:sp>
        <p:sp>
          <p:nvSpPr>
            <p:cNvPr id="123" name="Text 5"/>
            <p:cNvSpPr/>
            <p:nvPr/>
          </p:nvSpPr>
          <p:spPr>
            <a:xfrm>
              <a:off x="4176" y="1750"/>
              <a:ext cx="4608" cy="730"/>
            </a:xfrm>
            <a:prstGeom prst="rect">
              <a:avLst/>
            </a:prstGeom>
            <a:solidFill>
              <a:schemeClr val="accent6">
                <a:lumMod val="40000"/>
                <a:lumOff val="60000"/>
                <a:alpha val="100000"/>
              </a:schemeClr>
            </a:solidFill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zh-CN" altLang="en-US" b="1">
                  <a:solidFill>
                    <a:schemeClr val="accent6">
                      <a:lumMod val="75000"/>
                    </a:schemeClr>
                  </a:solidFill>
                  <a:latin typeface="+mn-lt"/>
                  <a:ea typeface="+mn-ea"/>
                  <a:cs typeface="+mn-cs"/>
                </a:rPr>
                <a:t>总体对比</a:t>
              </a:r>
              <a:endParaRPr lang="zh-CN" altLang="en-US">
                <a:solidFill>
                  <a:schemeClr val="accent6">
                    <a:lumMod val="75000"/>
                  </a:schemeClr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6" name="Text 5"/>
          <p:cNvSpPr/>
          <p:nvPr/>
        </p:nvSpPr>
        <p:spPr>
          <a:xfrm>
            <a:off x="6824363" y="5107535"/>
            <a:ext cx="2926080" cy="4635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en-US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L</a:t>
            </a:r>
            <a:r>
              <a:rPr lang="en-US" altLang="zh-CN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CSE</a:t>
            </a:r>
            <a:r>
              <a:rPr lang="zh-CN" altLang="en-US" b="1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最长公共子表达式共享</a:t>
            </a:r>
            <a:endParaRPr lang="en-US" b="1">
              <a:solidFill>
                <a:schemeClr val="accent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7" name="文本框 126"/>
          <p:cNvSpPr txBox="1"/>
          <p:nvPr userDrawn="1"/>
        </p:nvSpPr>
        <p:spPr>
          <a:xfrm>
            <a:off x="5546133" y="6128731"/>
            <a:ext cx="109982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对比方法</a:t>
            </a:r>
            <a:endParaRPr lang="zh-CN" altLang="en-US">
              <a:latin typeface="+mn-lt"/>
              <a:ea typeface="+mn-ea"/>
              <a:cs typeface="+mn-cs"/>
            </a:endParaRPr>
          </a:p>
        </p:txBody>
      </p:sp>
      <p:sp>
        <p:nvSpPr>
          <p:cNvPr id="128" name="文本框 127"/>
          <p:cNvSpPr txBox="1"/>
          <p:nvPr userDrawn="1"/>
        </p:nvSpPr>
        <p:spPr>
          <a:xfrm>
            <a:off x="259715" y="532534"/>
            <a:ext cx="140462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0" indent="0" algn="l" defTabSz="0" rtl="0" eaLnBrk="1" latinLnBrk="0" hangingPunct="1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400" b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实验设计</a:t>
            </a:r>
            <a:endParaRPr lang="zh-CN" altLang="en-US" sz="2400" b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 rot="0">
            <a:off x="399955" y="1377732"/>
            <a:ext cx="11577663" cy="576238"/>
            <a:chOff x="587377" y="1052398"/>
            <a:chExt cx="11017248" cy="618922"/>
          </a:xfrm>
        </p:grpSpPr>
        <p:sp>
          <p:nvSpPr>
            <p:cNvPr id="28" name="矩形: 圆角 28"/>
            <p:cNvSpPr/>
            <p:nvPr/>
          </p:nvSpPr>
          <p:spPr>
            <a:xfrm>
              <a:off x="1916306" y="1052398"/>
              <a:ext cx="9688319" cy="618922"/>
            </a:xfrm>
            <a:prstGeom prst="roundRect">
              <a:avLst>
                <a:gd name="adj" fmla="val 0"/>
              </a:avLst>
            </a:prstGeom>
            <a:solidFill>
              <a:srgbClr val="E5EAF5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prstClr val="white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87378" y="1052398"/>
              <a:ext cx="1886579" cy="618922"/>
              <a:chOff x="587378" y="1052398"/>
              <a:chExt cx="1886579" cy="618922"/>
            </a:xfrm>
          </p:grpSpPr>
          <p:sp>
            <p:nvSpPr>
              <p:cNvPr id="30" name="任意多边形: 形状 26"/>
              <p:cNvSpPr/>
              <p:nvPr/>
            </p:nvSpPr>
            <p:spPr>
              <a:xfrm flipV="1">
                <a:off x="587378" y="1382222"/>
                <a:ext cx="1856171" cy="289097"/>
              </a:xfrm>
              <a:custGeom>
                <a:avLst/>
                <a:gdLst>
                  <a:gd name="connsiteX0" fmla="*/ 0 w 1856171"/>
                  <a:gd name="connsiteY0" fmla="*/ 289097 h 289097"/>
                  <a:gd name="connsiteX1" fmla="*/ 1741336 w 1856171"/>
                  <a:gd name="connsiteY1" fmla="*/ 289097 h 289097"/>
                  <a:gd name="connsiteX2" fmla="*/ 1856171 w 1856171"/>
                  <a:gd name="connsiteY2" fmla="*/ 0 h 289097"/>
                  <a:gd name="connsiteX3" fmla="*/ 0 w 1856171"/>
                  <a:gd name="connsiteY3" fmla="*/ 0 h 289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6171" h="289097">
                    <a:moveTo>
                      <a:pt x="0" y="289097"/>
                    </a:moveTo>
                    <a:lnTo>
                      <a:pt x="1741336" y="289097"/>
                    </a:lnTo>
                    <a:lnTo>
                      <a:pt x="18561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13A88">
                  <a:alpha val="4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31" name="任意多边形: 形状 24"/>
              <p:cNvSpPr/>
              <p:nvPr/>
            </p:nvSpPr>
            <p:spPr>
              <a:xfrm>
                <a:off x="587378" y="1052398"/>
                <a:ext cx="1886579" cy="618922"/>
              </a:xfrm>
              <a:custGeom>
                <a:avLst/>
                <a:gdLst>
                  <a:gd name="connsiteX0" fmla="*/ 0 w 1886579"/>
                  <a:gd name="connsiteY0" fmla="*/ 0 h 618922"/>
                  <a:gd name="connsiteX1" fmla="*/ 1886579 w 1886579"/>
                  <a:gd name="connsiteY1" fmla="*/ 0 h 618922"/>
                  <a:gd name="connsiteX2" fmla="*/ 1640731 w 1886579"/>
                  <a:gd name="connsiteY2" fmla="*/ 618922 h 618922"/>
                  <a:gd name="connsiteX3" fmla="*/ 0 w 1886579"/>
                  <a:gd name="connsiteY3" fmla="*/ 618922 h 618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6579" h="618922">
                    <a:moveTo>
                      <a:pt x="0" y="0"/>
                    </a:moveTo>
                    <a:lnTo>
                      <a:pt x="1886579" y="0"/>
                    </a:lnTo>
                    <a:lnTo>
                      <a:pt x="1640731" y="618922"/>
                    </a:lnTo>
                    <a:lnTo>
                      <a:pt x="0" y="618922"/>
                    </a:lnTo>
                    <a:close/>
                  </a:path>
                </a:pathLst>
              </a:custGeom>
              <a:solidFill>
                <a:srgbClr val="113A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342900"/>
                <a:endParaRPr lang="zh-CN" altLang="en-US" sz="1200">
                  <a:solidFill>
                    <a:prstClr val="white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2" name="矩形 31"/>
            <p:cNvSpPr/>
            <p:nvPr>
              <p:custDataLst>
                <p:tags r:id="rId1"/>
              </p:custDataLst>
            </p:nvPr>
          </p:nvSpPr>
          <p:spPr>
            <a:xfrm>
              <a:off x="587377" y="1052437"/>
              <a:ext cx="1735714" cy="618835"/>
            </a:xfrm>
            <a:prstGeom prst="rect">
              <a:avLst/>
            </a:prstGeom>
          </p:spPr>
          <p:txBody>
            <a:bodyPr vert="horz" wrap="square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buSzTx/>
                <a:buFontTx/>
                <a:buNone/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" dist="127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总体对比</a:t>
              </a:r>
              <a:endParaRPr lang="zh-CN" altLang="en-US" sz="2000" b="1" noProof="0" dirty="0">
                <a:ln>
                  <a:noFill/>
                </a:ln>
                <a:solidFill>
                  <a:prstClr val="white"/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2545911" y="1377682"/>
            <a:ext cx="9606459" cy="5762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defTabSz="914400"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MOTTO 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能更好利用共享机会，有效地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提高了系统吞吐量</a:t>
            </a:r>
            <a:endParaRPr lang="zh-CN" altLang="en-US">
              <a:solidFill>
                <a:srgbClr val="FF0000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-9397" y="1106847"/>
            <a:ext cx="12201445" cy="0"/>
          </a:xfrm>
          <a:prstGeom prst="line">
            <a:avLst/>
          </a:prstGeom>
          <a:ln w="25400">
            <a:solidFill>
              <a:srgbClr val="0F3EA7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45" y="2075825"/>
            <a:ext cx="10244284" cy="3154185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0" y="263992"/>
            <a:ext cx="12192048" cy="842813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Multi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Query Optimization for Complex Event Processing in SAP ESP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MOTTO</a:t>
            </a:r>
            <a:r>
              <a:rPr lang="en-US" altLang="zh-CN" sz="2400" b="1" dirty="0">
                <a:solidFill>
                  <a:srgbClr val="0339C4"/>
                </a:solidFill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SAP ESP 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中旨在提升大量并发模式查询的性能的多查询优化器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圆角矩形 35"/>
          <p:cNvSpPr/>
          <p:nvPr userDrawn="1"/>
        </p:nvSpPr>
        <p:spPr>
          <a:xfrm>
            <a:off x="836718" y="2075815"/>
            <a:ext cx="5312833" cy="4277889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" name="圆角矩形 1"/>
          <p:cNvSpPr/>
          <p:nvPr userDrawn="1"/>
        </p:nvSpPr>
        <p:spPr>
          <a:xfrm>
            <a:off x="2148840" y="5357010"/>
            <a:ext cx="2688590" cy="737023"/>
          </a:xfrm>
          <a:prstGeom prst="roundRect">
            <a:avLst/>
          </a:prstGeom>
          <a:solidFill>
            <a:srgbClr val="E5EAF5">
              <a:alpha val="10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2157095" y="5525496"/>
            <a:ext cx="2680335" cy="398780"/>
          </a:xfrm>
          <a:prstGeom prst="rect">
            <a:avLst/>
          </a:prstGeom>
          <a:ln w="38100" cmpd="sng">
            <a:noFill/>
            <a:prstDash val="solid"/>
            <a:miter lim="800000"/>
          </a:ln>
        </p:spPr>
        <p:txBody>
          <a:bodyPr wrap="none" rtlCol="0">
            <a:spAutoFit/>
          </a:bodyPr>
          <a:p>
            <a:pPr algn="l"/>
            <a:r>
              <a:rPr lang="zh-CN" altLang="en-US" sz="20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</a:t>
            </a:r>
            <a:r>
              <a:rPr lang="en-US" altLang="zh-CN" sz="20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en-US" altLang="zh-CN" sz="20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股票交易事件数据集</a:t>
            </a:r>
            <a:endParaRPr lang="en-US" altLang="zh-CN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圆角矩形 24"/>
          <p:cNvSpPr/>
          <p:nvPr userDrawn="1"/>
        </p:nvSpPr>
        <p:spPr>
          <a:xfrm>
            <a:off x="7455535" y="5356966"/>
            <a:ext cx="2688590" cy="737023"/>
          </a:xfrm>
          <a:prstGeom prst="roundRect">
            <a:avLst/>
          </a:prstGeom>
          <a:solidFill>
            <a:srgbClr val="E5EAF5">
              <a:alpha val="10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7463790" y="5525453"/>
            <a:ext cx="2680335" cy="398780"/>
          </a:xfrm>
          <a:prstGeom prst="rect">
            <a:avLst/>
          </a:prstGeom>
          <a:ln w="38100" cmpd="sng">
            <a:noFill/>
            <a:prstDash val="solid"/>
            <a:miter lim="800000"/>
          </a:ln>
        </p:spPr>
        <p:txBody>
          <a:bodyPr wrap="none" rtlCol="0">
            <a:spAutoFit/>
          </a:bodyPr>
          <a:p>
            <a:pPr algn="l"/>
            <a:r>
              <a:rPr lang="en-US" altLang="zh-CN" sz="20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b.</a:t>
            </a:r>
            <a:r>
              <a:rPr lang="en-US" altLang="zh-CN" sz="20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数据中心</a:t>
            </a:r>
            <a:r>
              <a:rPr lang="en-US" altLang="zh-CN" sz="20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监控数据集</a:t>
            </a:r>
            <a:endParaRPr lang="en-US" altLang="zh-CN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7" name="圆角矩形 36"/>
          <p:cNvSpPr/>
          <p:nvPr userDrawn="1"/>
        </p:nvSpPr>
        <p:spPr>
          <a:xfrm>
            <a:off x="6149128" y="2075815"/>
            <a:ext cx="5312833" cy="4277889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/>
          <p:cNvSpPr/>
          <p:nvPr userDrawn="1"/>
        </p:nvSpPr>
        <p:spPr>
          <a:xfrm>
            <a:off x="645795" y="3150764"/>
            <a:ext cx="2688590" cy="2444750"/>
          </a:xfrm>
          <a:prstGeom prst="roundRect">
            <a:avLst/>
          </a:prstGeom>
          <a:solidFill>
            <a:srgbClr val="E5EAF5">
              <a:alpha val="100000"/>
            </a:srgb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 rot="0">
            <a:off x="399955" y="1377732"/>
            <a:ext cx="11577663" cy="576238"/>
            <a:chOff x="587377" y="1052398"/>
            <a:chExt cx="11017248" cy="618922"/>
          </a:xfrm>
        </p:grpSpPr>
        <p:sp>
          <p:nvSpPr>
            <p:cNvPr id="28" name="矩形: 圆角 28"/>
            <p:cNvSpPr/>
            <p:nvPr/>
          </p:nvSpPr>
          <p:spPr>
            <a:xfrm>
              <a:off x="1916306" y="1052398"/>
              <a:ext cx="9688319" cy="618922"/>
            </a:xfrm>
            <a:prstGeom prst="roundRect">
              <a:avLst>
                <a:gd name="adj" fmla="val 0"/>
              </a:avLst>
            </a:prstGeom>
            <a:solidFill>
              <a:srgbClr val="E5EAF5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prstClr val="white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87378" y="1052398"/>
              <a:ext cx="1886579" cy="618922"/>
              <a:chOff x="587378" y="1052398"/>
              <a:chExt cx="1886579" cy="618922"/>
            </a:xfrm>
          </p:grpSpPr>
          <p:sp>
            <p:nvSpPr>
              <p:cNvPr id="30" name="任意多边形: 形状 26"/>
              <p:cNvSpPr/>
              <p:nvPr/>
            </p:nvSpPr>
            <p:spPr>
              <a:xfrm flipV="1">
                <a:off x="587378" y="1382222"/>
                <a:ext cx="1856171" cy="289097"/>
              </a:xfrm>
              <a:custGeom>
                <a:avLst/>
                <a:gdLst>
                  <a:gd name="connsiteX0" fmla="*/ 0 w 1856171"/>
                  <a:gd name="connsiteY0" fmla="*/ 289097 h 289097"/>
                  <a:gd name="connsiteX1" fmla="*/ 1741336 w 1856171"/>
                  <a:gd name="connsiteY1" fmla="*/ 289097 h 289097"/>
                  <a:gd name="connsiteX2" fmla="*/ 1856171 w 1856171"/>
                  <a:gd name="connsiteY2" fmla="*/ 0 h 289097"/>
                  <a:gd name="connsiteX3" fmla="*/ 0 w 1856171"/>
                  <a:gd name="connsiteY3" fmla="*/ 0 h 289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6171" h="289097">
                    <a:moveTo>
                      <a:pt x="0" y="289097"/>
                    </a:moveTo>
                    <a:lnTo>
                      <a:pt x="1741336" y="289097"/>
                    </a:lnTo>
                    <a:lnTo>
                      <a:pt x="18561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13A88">
                  <a:alpha val="4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31" name="任意多边形: 形状 24"/>
              <p:cNvSpPr/>
              <p:nvPr/>
            </p:nvSpPr>
            <p:spPr>
              <a:xfrm>
                <a:off x="587378" y="1052398"/>
                <a:ext cx="1886579" cy="618922"/>
              </a:xfrm>
              <a:custGeom>
                <a:avLst/>
                <a:gdLst>
                  <a:gd name="connsiteX0" fmla="*/ 0 w 1886579"/>
                  <a:gd name="connsiteY0" fmla="*/ 0 h 618922"/>
                  <a:gd name="connsiteX1" fmla="*/ 1886579 w 1886579"/>
                  <a:gd name="connsiteY1" fmla="*/ 0 h 618922"/>
                  <a:gd name="connsiteX2" fmla="*/ 1640731 w 1886579"/>
                  <a:gd name="connsiteY2" fmla="*/ 618922 h 618922"/>
                  <a:gd name="connsiteX3" fmla="*/ 0 w 1886579"/>
                  <a:gd name="connsiteY3" fmla="*/ 618922 h 618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6579" h="618922">
                    <a:moveTo>
                      <a:pt x="0" y="0"/>
                    </a:moveTo>
                    <a:lnTo>
                      <a:pt x="1886579" y="0"/>
                    </a:lnTo>
                    <a:lnTo>
                      <a:pt x="1640731" y="618922"/>
                    </a:lnTo>
                    <a:lnTo>
                      <a:pt x="0" y="618922"/>
                    </a:lnTo>
                    <a:close/>
                  </a:path>
                </a:pathLst>
              </a:custGeom>
              <a:solidFill>
                <a:srgbClr val="113A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342900"/>
                <a:endParaRPr lang="zh-CN" altLang="en-US" sz="1200">
                  <a:solidFill>
                    <a:prstClr val="white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2" name="矩形 31"/>
            <p:cNvSpPr/>
            <p:nvPr>
              <p:custDataLst>
                <p:tags r:id="rId1"/>
              </p:custDataLst>
            </p:nvPr>
          </p:nvSpPr>
          <p:spPr>
            <a:xfrm>
              <a:off x="587377" y="1052437"/>
              <a:ext cx="1735714" cy="618835"/>
            </a:xfrm>
            <a:prstGeom prst="rect">
              <a:avLst/>
            </a:prstGeom>
          </p:spPr>
          <p:txBody>
            <a:bodyPr vert="horz" wrap="square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buSzTx/>
                <a:buFontTx/>
                <a:buNone/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" dist="127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敏感性研究</a:t>
              </a:r>
              <a:endParaRPr lang="zh-CN" altLang="en-US" sz="2000" b="1" noProof="0" dirty="0">
                <a:ln>
                  <a:noFill/>
                </a:ln>
                <a:solidFill>
                  <a:prstClr val="white"/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cxnSp>
        <p:nvCxnSpPr>
          <p:cNvPr id="11" name="直接连接符 10"/>
          <p:cNvCxnSpPr/>
          <p:nvPr/>
        </p:nvCxnSpPr>
        <p:spPr>
          <a:xfrm>
            <a:off x="-9397" y="1106847"/>
            <a:ext cx="12201445" cy="0"/>
          </a:xfrm>
          <a:prstGeom prst="line">
            <a:avLst/>
          </a:prstGeom>
          <a:ln w="25400">
            <a:solidFill>
              <a:srgbClr val="0F3EA7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 userDrawn="1"/>
        </p:nvSpPr>
        <p:spPr>
          <a:xfrm>
            <a:off x="0" y="263992"/>
            <a:ext cx="12192048" cy="842813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Multi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Query Optimization for Complex Event Processing in SAP ESP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MOTTO</a:t>
            </a:r>
            <a:r>
              <a:rPr lang="en-US" altLang="zh-CN" sz="2400" b="1" dirty="0">
                <a:solidFill>
                  <a:srgbClr val="0339C4"/>
                </a:solidFill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SAP ESP 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中旨在提升大量并发模式查询的性能的多查询优化器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b="1521"/>
          <a:stretch>
            <a:fillRect/>
          </a:stretch>
        </p:blipFill>
        <p:spPr>
          <a:xfrm>
            <a:off x="3683669" y="2034271"/>
            <a:ext cx="8072642" cy="4677658"/>
          </a:xfrm>
          <a:prstGeom prst="rect">
            <a:avLst/>
          </a:prstGeom>
        </p:spPr>
      </p:pic>
      <p:grpSp>
        <p:nvGrpSpPr>
          <p:cNvPr id="34" name="组合 33"/>
          <p:cNvGrpSpPr/>
          <p:nvPr userDrawn="1"/>
        </p:nvGrpSpPr>
        <p:grpSpPr>
          <a:xfrm>
            <a:off x="944457" y="3389948"/>
            <a:ext cx="2213610" cy="1887220"/>
            <a:chOff x="1354" y="4451"/>
            <a:chExt cx="3486" cy="2972"/>
          </a:xfrm>
        </p:grpSpPr>
        <p:sp>
          <p:nvSpPr>
            <p:cNvPr id="5" name="文本框 4"/>
            <p:cNvSpPr txBox="1"/>
            <p:nvPr userDrawn="1"/>
          </p:nvSpPr>
          <p:spPr>
            <a:xfrm>
              <a:off x="1354" y="4451"/>
              <a:ext cx="3029" cy="628"/>
            </a:xfrm>
            <a:prstGeom prst="rect">
              <a:avLst/>
            </a:prstGeom>
            <a:ln w="38100" cmpd="sng">
              <a:noFill/>
              <a:prstDash val="solid"/>
              <a:miter lim="800000"/>
            </a:ln>
          </p:spPr>
          <p:txBody>
            <a:bodyPr wrap="none" rtlCol="0">
              <a:spAutoFit/>
            </a:bodyPr>
            <a:p>
              <a:pPr algn="l"/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a</a:t>
              </a: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.</a:t>
              </a: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改变查询数量</a:t>
              </a:r>
              <a:endParaRPr lang="zh-CN" altLang="en-US" sz="20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1354" y="5235"/>
              <a:ext cx="3487" cy="628"/>
            </a:xfrm>
            <a:prstGeom prst="rect">
              <a:avLst/>
            </a:prstGeom>
            <a:ln w="38100" cmpd="sng">
              <a:noFill/>
              <a:prstDash val="solid"/>
              <a:miter lim="800000"/>
            </a:ln>
          </p:spPr>
          <p:txBody>
            <a:bodyPr wrap="none" rtlCol="0">
              <a:spAutoFit/>
            </a:bodyPr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b.</a:t>
              </a: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改变</a:t>
              </a:r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CPU</a:t>
              </a: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核心数</a:t>
              </a:r>
              <a:endParaRPr lang="zh-CN" altLang="en-US" sz="20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1354" y="6015"/>
              <a:ext cx="3022" cy="628"/>
            </a:xfrm>
            <a:prstGeom prst="rect">
              <a:avLst/>
            </a:prstGeom>
            <a:ln w="38100" cmpd="sng">
              <a:noFill/>
              <a:prstDash val="solid"/>
              <a:miter lim="800000"/>
            </a:ln>
          </p:spPr>
          <p:txBody>
            <a:bodyPr wrap="none" rtlCol="0">
              <a:spAutoFit/>
            </a:bodyPr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c.</a:t>
              </a: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改变窗口约束</a:t>
              </a:r>
              <a:endParaRPr lang="zh-CN" altLang="en-US" sz="20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文本框 14"/>
            <p:cNvSpPr txBox="1"/>
            <p:nvPr userDrawn="1"/>
          </p:nvSpPr>
          <p:spPr>
            <a:xfrm>
              <a:off x="1354" y="6795"/>
              <a:ext cx="3038" cy="628"/>
            </a:xfrm>
            <a:prstGeom prst="rect">
              <a:avLst/>
            </a:prstGeom>
            <a:ln w="38100" cmpd="sng">
              <a:noFill/>
              <a:prstDash val="solid"/>
              <a:miter lim="800000"/>
            </a:ln>
          </p:spPr>
          <p:txBody>
            <a:bodyPr wrap="none" rtlCol="0">
              <a:spAutoFit/>
            </a:bodyPr>
            <a:p>
              <a:pPr algn="l"/>
              <a:r>
                <a:rPr lang="en-US" altLang="zh-CN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d.</a:t>
              </a:r>
              <a:r>
                <a:rPr lang="zh-CN" altLang="en-US" sz="20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改变嵌套层级</a:t>
              </a:r>
              <a:endParaRPr lang="zh-CN" altLang="en-US" sz="20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0" name="直接连接符 9"/>
            <p:cNvCxnSpPr>
              <a:stCxn id="5" idx="1"/>
              <a:endCxn id="5" idx="3"/>
            </p:cNvCxnSpPr>
            <p:nvPr userDrawn="1"/>
          </p:nvCxnSpPr>
          <p:spPr>
            <a:xfrm>
              <a:off x="1354" y="5050"/>
              <a:ext cx="3029" cy="0"/>
            </a:xfrm>
            <a:prstGeom prst="line">
              <a:avLst/>
            </a:prstGeom>
            <a:ln w="19050">
              <a:solidFill>
                <a:srgbClr val="B0B5B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>
              <a:stCxn id="13" idx="1"/>
              <a:endCxn id="13" idx="3"/>
            </p:cNvCxnSpPr>
            <p:nvPr userDrawn="1"/>
          </p:nvCxnSpPr>
          <p:spPr>
            <a:xfrm>
              <a:off x="1354" y="5834"/>
              <a:ext cx="3487" cy="0"/>
            </a:xfrm>
            <a:prstGeom prst="line">
              <a:avLst/>
            </a:prstGeom>
            <a:ln w="19050">
              <a:solidFill>
                <a:srgbClr val="B0B5B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stCxn id="14" idx="1"/>
              <a:endCxn id="14" idx="3"/>
            </p:cNvCxnSpPr>
            <p:nvPr userDrawn="1"/>
          </p:nvCxnSpPr>
          <p:spPr>
            <a:xfrm>
              <a:off x="1354" y="6614"/>
              <a:ext cx="3022" cy="0"/>
            </a:xfrm>
            <a:prstGeom prst="line">
              <a:avLst/>
            </a:prstGeom>
            <a:ln w="19050">
              <a:solidFill>
                <a:srgbClr val="B0B5B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5" idx="1"/>
              <a:endCxn id="15" idx="3"/>
            </p:cNvCxnSpPr>
            <p:nvPr userDrawn="1"/>
          </p:nvCxnSpPr>
          <p:spPr>
            <a:xfrm>
              <a:off x="1354" y="7394"/>
              <a:ext cx="3038" cy="0"/>
            </a:xfrm>
            <a:prstGeom prst="line">
              <a:avLst/>
            </a:prstGeom>
            <a:ln w="19050">
              <a:solidFill>
                <a:srgbClr val="B0B5B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3" name="文本框 32"/>
          <p:cNvSpPr txBox="1"/>
          <p:nvPr/>
        </p:nvSpPr>
        <p:spPr>
          <a:xfrm>
            <a:off x="2545911" y="1377682"/>
            <a:ext cx="9606459" cy="5762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defTabSz="914400">
              <a:defRPr/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MOTTO 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在高并发和多核等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复杂环境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下表现出显著的优越性</a:t>
            </a:r>
            <a:endParaRPr lang="zh-CN" altLang="en-US" sz="2000" b="1" dirty="0">
              <a:solidFill>
                <a:schemeClr val="tx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36" name="圆角矩形 35"/>
          <p:cNvSpPr/>
          <p:nvPr userDrawn="1"/>
        </p:nvSpPr>
        <p:spPr>
          <a:xfrm>
            <a:off x="3683635" y="2034223"/>
            <a:ext cx="7905750" cy="4730750"/>
          </a:xfrm>
          <a:prstGeom prst="round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/>
          <p:cNvCxnSpPr/>
          <p:nvPr/>
        </p:nvCxnSpPr>
        <p:spPr>
          <a:xfrm>
            <a:off x="-9397" y="1106847"/>
            <a:ext cx="12201445" cy="0"/>
          </a:xfrm>
          <a:prstGeom prst="line">
            <a:avLst/>
          </a:prstGeom>
          <a:ln w="25400">
            <a:solidFill>
              <a:srgbClr val="0F3EA7">
                <a:alpha val="100000"/>
              </a:srgb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/>
        </p:nvGrpSpPr>
        <p:grpSpPr>
          <a:xfrm rot="0">
            <a:off x="399944" y="3445877"/>
            <a:ext cx="11577663" cy="576238"/>
            <a:chOff x="587377" y="1052398"/>
            <a:chExt cx="11017248" cy="618922"/>
          </a:xfrm>
        </p:grpSpPr>
        <p:sp>
          <p:nvSpPr>
            <p:cNvPr id="13" name="矩形: 圆角 28"/>
            <p:cNvSpPr/>
            <p:nvPr/>
          </p:nvSpPr>
          <p:spPr>
            <a:xfrm>
              <a:off x="1916306" y="1052398"/>
              <a:ext cx="9688319" cy="618922"/>
            </a:xfrm>
            <a:prstGeom prst="roundRect">
              <a:avLst>
                <a:gd name="adj" fmla="val 0"/>
              </a:avLst>
            </a:prstGeom>
            <a:solidFill>
              <a:srgbClr val="E5EAF5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prstClr val="white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587378" y="1052398"/>
              <a:ext cx="1886579" cy="618922"/>
              <a:chOff x="587378" y="1052398"/>
              <a:chExt cx="1886579" cy="618922"/>
            </a:xfrm>
          </p:grpSpPr>
          <p:sp>
            <p:nvSpPr>
              <p:cNvPr id="15" name="任意多边形: 形状 26"/>
              <p:cNvSpPr/>
              <p:nvPr/>
            </p:nvSpPr>
            <p:spPr>
              <a:xfrm flipV="1">
                <a:off x="587378" y="1382222"/>
                <a:ext cx="1856171" cy="289097"/>
              </a:xfrm>
              <a:custGeom>
                <a:avLst/>
                <a:gdLst>
                  <a:gd name="connsiteX0" fmla="*/ 0 w 1856171"/>
                  <a:gd name="connsiteY0" fmla="*/ 289097 h 289097"/>
                  <a:gd name="connsiteX1" fmla="*/ 1741336 w 1856171"/>
                  <a:gd name="connsiteY1" fmla="*/ 289097 h 289097"/>
                  <a:gd name="connsiteX2" fmla="*/ 1856171 w 1856171"/>
                  <a:gd name="connsiteY2" fmla="*/ 0 h 289097"/>
                  <a:gd name="connsiteX3" fmla="*/ 0 w 1856171"/>
                  <a:gd name="connsiteY3" fmla="*/ 0 h 289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6171" h="289097">
                    <a:moveTo>
                      <a:pt x="0" y="289097"/>
                    </a:moveTo>
                    <a:lnTo>
                      <a:pt x="1741336" y="289097"/>
                    </a:lnTo>
                    <a:lnTo>
                      <a:pt x="18561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13A88">
                  <a:alpha val="4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6" name="任意多边形: 形状 24"/>
              <p:cNvSpPr/>
              <p:nvPr/>
            </p:nvSpPr>
            <p:spPr>
              <a:xfrm>
                <a:off x="587378" y="1052398"/>
                <a:ext cx="1886579" cy="618922"/>
              </a:xfrm>
              <a:custGeom>
                <a:avLst/>
                <a:gdLst>
                  <a:gd name="connsiteX0" fmla="*/ 0 w 1886579"/>
                  <a:gd name="connsiteY0" fmla="*/ 0 h 618922"/>
                  <a:gd name="connsiteX1" fmla="*/ 1886579 w 1886579"/>
                  <a:gd name="connsiteY1" fmla="*/ 0 h 618922"/>
                  <a:gd name="connsiteX2" fmla="*/ 1640731 w 1886579"/>
                  <a:gd name="connsiteY2" fmla="*/ 618922 h 618922"/>
                  <a:gd name="connsiteX3" fmla="*/ 0 w 1886579"/>
                  <a:gd name="connsiteY3" fmla="*/ 618922 h 618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6579" h="618922">
                    <a:moveTo>
                      <a:pt x="0" y="0"/>
                    </a:moveTo>
                    <a:lnTo>
                      <a:pt x="1886579" y="0"/>
                    </a:lnTo>
                    <a:lnTo>
                      <a:pt x="1640731" y="618922"/>
                    </a:lnTo>
                    <a:lnTo>
                      <a:pt x="0" y="618922"/>
                    </a:lnTo>
                    <a:close/>
                  </a:path>
                </a:pathLst>
              </a:custGeom>
              <a:solidFill>
                <a:srgbClr val="113A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342900"/>
                <a:endParaRPr lang="zh-CN" altLang="en-US" sz="1200">
                  <a:solidFill>
                    <a:prstClr val="white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7" name="矩形 16"/>
            <p:cNvSpPr/>
            <p:nvPr>
              <p:custDataLst>
                <p:tags r:id="rId1"/>
              </p:custDataLst>
            </p:nvPr>
          </p:nvSpPr>
          <p:spPr>
            <a:xfrm>
              <a:off x="587377" y="1052437"/>
              <a:ext cx="1735714" cy="618835"/>
            </a:xfrm>
            <a:prstGeom prst="rect">
              <a:avLst/>
            </a:prstGeom>
          </p:spPr>
          <p:txBody>
            <a:bodyPr vert="horz" wrap="square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buSzTx/>
                <a:buFontTx/>
                <a:buNone/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" dist="127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启示</a:t>
              </a:r>
              <a:endParaRPr lang="zh-CN" altLang="en-US"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2545900" y="3445827"/>
            <a:ext cx="9606459" cy="5762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rPr>
              <a:t>设计系统引擎时，建立一套底层转换规则或是突破性能瓶颈的关键</a:t>
            </a:r>
            <a:endParaRPr lang="zh-CN" altLang="en-US"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5" name="文本框 124"/>
          <p:cNvSpPr txBox="1"/>
          <p:nvPr userDrawn="1"/>
        </p:nvSpPr>
        <p:spPr>
          <a:xfrm>
            <a:off x="2350498" y="2226027"/>
            <a:ext cx="9800590" cy="706755"/>
          </a:xfrm>
          <a:prstGeom prst="rect">
            <a:avLst/>
          </a:prstGeom>
        </p:spPr>
        <p:txBody>
          <a:bodyPr wrap="none" rtlCol="0">
            <a:spAutoFit/>
          </a:bodyPr>
          <a:p>
            <a:pPr algn="l"/>
            <a:r>
              <a:rPr lang="zh-CN" altLang="en-US" sz="2000">
                <a:latin typeface="+mn-lt"/>
                <a:ea typeface="+mn-ea"/>
                <a:cs typeface="+mn-cs"/>
              </a:rPr>
              <a:t>三种共享技术互补使用显著优于仅使用任一单一技术；</a:t>
            </a:r>
            <a:endParaRPr lang="zh-CN" altLang="en-US" sz="2000">
              <a:latin typeface="+mn-lt"/>
              <a:ea typeface="+mn-ea"/>
              <a:cs typeface="+mn-cs"/>
            </a:endParaRPr>
          </a:p>
          <a:p>
            <a:pPr algn="l"/>
            <a:r>
              <a:rPr lang="en-US" altLang="zh-CN" sz="2000">
                <a:latin typeface="+mn-lt"/>
                <a:ea typeface="+mn-ea"/>
                <a:cs typeface="+mn-cs"/>
              </a:rPr>
              <a:t>MOTTO </a:t>
            </a:r>
            <a:r>
              <a:rPr lang="zh-CN" altLang="en-US" sz="2000">
                <a:latin typeface="+mn-lt"/>
                <a:ea typeface="+mn-ea"/>
                <a:cs typeface="+mn-cs"/>
              </a:rPr>
              <a:t>在真实工作负载下相比无共享基线带来显著加速，同时优化器自身开销可控。</a:t>
            </a:r>
            <a:endParaRPr lang="zh-CN" altLang="en-US" sz="2000">
              <a:latin typeface="+mn-lt"/>
              <a:ea typeface="+mn-ea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99955" y="1377732"/>
            <a:ext cx="11577663" cy="576238"/>
            <a:chOff x="587377" y="1052398"/>
            <a:chExt cx="11017248" cy="618922"/>
          </a:xfrm>
        </p:grpSpPr>
        <p:sp>
          <p:nvSpPr>
            <p:cNvPr id="7" name="矩形: 圆角 28"/>
            <p:cNvSpPr/>
            <p:nvPr/>
          </p:nvSpPr>
          <p:spPr>
            <a:xfrm>
              <a:off x="1916306" y="1052398"/>
              <a:ext cx="9688319" cy="618922"/>
            </a:xfrm>
            <a:prstGeom prst="roundRect">
              <a:avLst>
                <a:gd name="adj" fmla="val 0"/>
              </a:avLst>
            </a:prstGeom>
            <a:solidFill>
              <a:srgbClr val="E5EAF5">
                <a:alpha val="10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solidFill>
                  <a:prstClr val="white"/>
                </a:solidFill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587378" y="1052398"/>
              <a:ext cx="1886579" cy="618922"/>
              <a:chOff x="587378" y="1052398"/>
              <a:chExt cx="1886579" cy="618922"/>
            </a:xfrm>
          </p:grpSpPr>
          <p:sp>
            <p:nvSpPr>
              <p:cNvPr id="9" name="任意多边形: 形状 26"/>
              <p:cNvSpPr/>
              <p:nvPr/>
            </p:nvSpPr>
            <p:spPr>
              <a:xfrm flipV="1">
                <a:off x="587378" y="1382222"/>
                <a:ext cx="1856171" cy="289097"/>
              </a:xfrm>
              <a:custGeom>
                <a:avLst/>
                <a:gdLst>
                  <a:gd name="connsiteX0" fmla="*/ 0 w 1856171"/>
                  <a:gd name="connsiteY0" fmla="*/ 289097 h 289097"/>
                  <a:gd name="connsiteX1" fmla="*/ 1741336 w 1856171"/>
                  <a:gd name="connsiteY1" fmla="*/ 289097 h 289097"/>
                  <a:gd name="connsiteX2" fmla="*/ 1856171 w 1856171"/>
                  <a:gd name="connsiteY2" fmla="*/ 0 h 289097"/>
                  <a:gd name="connsiteX3" fmla="*/ 0 w 1856171"/>
                  <a:gd name="connsiteY3" fmla="*/ 0 h 289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56171" h="289097">
                    <a:moveTo>
                      <a:pt x="0" y="289097"/>
                    </a:moveTo>
                    <a:lnTo>
                      <a:pt x="1741336" y="289097"/>
                    </a:lnTo>
                    <a:lnTo>
                      <a:pt x="18561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13A88">
                  <a:alpha val="43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  <p:sp>
            <p:nvSpPr>
              <p:cNvPr id="18" name="任意多边形: 形状 24"/>
              <p:cNvSpPr/>
              <p:nvPr/>
            </p:nvSpPr>
            <p:spPr>
              <a:xfrm>
                <a:off x="587378" y="1052398"/>
                <a:ext cx="1886579" cy="618922"/>
              </a:xfrm>
              <a:custGeom>
                <a:avLst/>
                <a:gdLst>
                  <a:gd name="connsiteX0" fmla="*/ 0 w 1886579"/>
                  <a:gd name="connsiteY0" fmla="*/ 0 h 618922"/>
                  <a:gd name="connsiteX1" fmla="*/ 1886579 w 1886579"/>
                  <a:gd name="connsiteY1" fmla="*/ 0 h 618922"/>
                  <a:gd name="connsiteX2" fmla="*/ 1640731 w 1886579"/>
                  <a:gd name="connsiteY2" fmla="*/ 618922 h 618922"/>
                  <a:gd name="connsiteX3" fmla="*/ 0 w 1886579"/>
                  <a:gd name="connsiteY3" fmla="*/ 618922 h 6189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6579" h="618922">
                    <a:moveTo>
                      <a:pt x="0" y="0"/>
                    </a:moveTo>
                    <a:lnTo>
                      <a:pt x="1886579" y="0"/>
                    </a:lnTo>
                    <a:lnTo>
                      <a:pt x="1640731" y="618922"/>
                    </a:lnTo>
                    <a:lnTo>
                      <a:pt x="0" y="618922"/>
                    </a:lnTo>
                    <a:close/>
                  </a:path>
                </a:pathLst>
              </a:custGeom>
              <a:solidFill>
                <a:srgbClr val="113A8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342900"/>
                <a:endParaRPr lang="zh-CN" altLang="en-US" sz="1200">
                  <a:solidFill>
                    <a:prstClr val="white"/>
                  </a:solidFill>
                  <a:latin typeface="+mn-lt"/>
                  <a:ea typeface="+mn-ea"/>
                  <a:cs typeface="+mn-cs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19" name="矩形 18"/>
            <p:cNvSpPr/>
            <p:nvPr>
              <p:custDataLst>
                <p:tags r:id="rId2"/>
              </p:custDataLst>
            </p:nvPr>
          </p:nvSpPr>
          <p:spPr>
            <a:xfrm>
              <a:off x="587377" y="1052437"/>
              <a:ext cx="1735714" cy="618835"/>
            </a:xfrm>
            <a:prstGeom prst="rect">
              <a:avLst/>
            </a:prstGeom>
          </p:spPr>
          <p:txBody>
            <a:bodyPr vert="horz" wrap="square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75000"/>
                    <a:lumOff val="25000"/>
                  </a:prstClr>
                </a:buClr>
                <a:buSzTx/>
                <a:buFontTx/>
                <a:buNone/>
                <a:defRPr/>
              </a:pPr>
              <a:r>
                <a:rPr lang="zh-CN" altLang="en-US" sz="2000" b="1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12700" dist="127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+mn-lt"/>
                  <a:ea typeface="+mn-ea"/>
                  <a:cs typeface="+mn-cs"/>
                  <a:sym typeface="Arial" panose="020B0604020202020204" pitchFamily="34" charset="0"/>
                </a:rPr>
                <a:t>结论</a:t>
              </a:r>
              <a:endParaRPr lang="zh-CN" altLang="en-US" sz="2000" b="1" noProof="0" dirty="0">
                <a:ln>
                  <a:noFill/>
                </a:ln>
                <a:solidFill>
                  <a:prstClr val="white"/>
                </a:solidFill>
                <a:effectLst>
                  <a:outerShdw blurRad="12700" dist="127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2545911" y="1377682"/>
            <a:ext cx="9606459" cy="57620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Arial" panose="020B0604020202020204" pitchFamily="34" charset="0"/>
              </a:rPr>
              <a:t>多粒度共享机会综合使用，有利于进一步提升性能</a:t>
            </a:r>
            <a:endParaRPr lang="zh-CN" altLang="en-US" sz="2000" b="1" dirty="0">
              <a:solidFill>
                <a:schemeClr val="tx1"/>
              </a:solidFill>
              <a:latin typeface="+mn-lt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0" y="263992"/>
            <a:ext cx="12192048" cy="842813"/>
          </a:xfrm>
          <a:prstGeom prst="rect">
            <a:avLst/>
          </a:prstGeom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Multi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-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Query Optimization for Complex Event Processing in SAP ESP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  <a:p>
            <a:pPr algn="ctr"/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MOTTO</a:t>
            </a:r>
            <a:r>
              <a:rPr lang="en-US" altLang="zh-CN" sz="2400" b="1" dirty="0">
                <a:solidFill>
                  <a:srgbClr val="0339C4"/>
                </a:solidFill>
                <a:uFillTx/>
                <a:latin typeface="+mn-lt"/>
                <a:ea typeface="+mn-ea"/>
                <a:cs typeface="+mn-cs"/>
              </a:rPr>
              <a:t>: </a:t>
            </a:r>
            <a:r>
              <a:rPr lang="en-US" altLang="zh-CN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SAP ESP </a:t>
            </a:r>
            <a:r>
              <a:rPr lang="zh-CN" altLang="en-US" sz="2400" b="1" dirty="0">
                <a:solidFill>
                  <a:srgbClr val="0339C4"/>
                </a:solidFill>
                <a:latin typeface="+mn-lt"/>
                <a:ea typeface="+mn-ea"/>
                <a:cs typeface="+mn-cs"/>
              </a:rPr>
              <a:t>中旨在提升大量并发模式查询的性能的多查询优化器</a:t>
            </a:r>
            <a:endParaRPr lang="en-US" altLang="zh-CN" sz="2400" b="1" dirty="0">
              <a:solidFill>
                <a:srgbClr val="0339C4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382445" y="4457653"/>
            <a:ext cx="9595072" cy="1938020"/>
          </a:xfrm>
          <a:prstGeom prst="rect">
            <a:avLst/>
          </a:prstGeom>
        </p:spPr>
        <p:txBody>
          <a:bodyPr wrap="square" rtlCol="0">
            <a:noAutofit/>
          </a:bodyPr>
          <a:p>
            <a:pPr marL="342900" indent="-342900" algn="l">
              <a:buChar char="•"/>
            </a:pPr>
            <a:r>
              <a:rPr lang="zh-CN" altLang="en-US" sz="2000"/>
              <a:t>传统优化往往受限于代码语法的表象，如要求查询的算子必须完全一致才能共享</a:t>
            </a:r>
            <a:r>
              <a:rPr lang="zh-CN" altLang="en-US" sz="2000">
                <a:solidFill>
                  <a:schemeClr val="tx1"/>
                </a:solidFill>
              </a:rPr>
              <a:t>，错失更多共享机会，所以要更关注底层原理挖掘其中关联。</a:t>
            </a:r>
            <a:endParaRPr lang="zh-CN" altLang="en-US" sz="2000"/>
          </a:p>
          <a:p>
            <a:pPr marL="342900" indent="-342900" algn="l">
              <a:buChar char="•"/>
            </a:pPr>
            <a:endParaRPr lang="zh-CN" altLang="en-US" sz="2000">
              <a:solidFill>
                <a:schemeClr val="tx1"/>
              </a:solidFill>
            </a:endParaRPr>
          </a:p>
          <a:p>
            <a:pPr marL="342900" indent="-342900" algn="l">
              <a:buChar char="•"/>
            </a:pPr>
            <a:r>
              <a:rPr lang="zh-CN" altLang="en-US" sz="2000">
                <a:solidFill>
                  <a:schemeClr val="tx1"/>
                </a:solidFill>
              </a:rPr>
              <a:t>设计寻找</a:t>
            </a:r>
            <a:r>
              <a:rPr lang="zh-CN" altLang="en-US" sz="2000"/>
              <a:t>共享机会的方法时要从易到难逐步推进，想办法先解决一个简单问题，然后把复杂</a:t>
            </a:r>
            <a:r>
              <a:rPr lang="zh-CN" altLang="en-US" sz="2000">
                <a:solidFill>
                  <a:schemeClr val="tx1"/>
                </a:solidFill>
              </a:rPr>
              <a:t>问题</a:t>
            </a:r>
            <a:r>
              <a:rPr lang="zh-CN" altLang="en-US" sz="2000"/>
              <a:t>拆解或转化为简单问题来解决。</a:t>
            </a:r>
            <a:endParaRPr lang="zh-CN" altLang="en-US" sz="200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500" y="4530496"/>
            <a:ext cx="1272848" cy="127284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854" y="2209838"/>
            <a:ext cx="1024128" cy="102412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7"/>
  <p:tag name="KSO_WM_UNIT_FILL_FORE_SCHEMECOLOR_INDEX_2_POS" val="0.42"/>
  <p:tag name="KSO_WM_UNIT_FILL_FORE_SCHEMECOLOR_INDEX_2_TRANS" val="0"/>
  <p:tag name="KSO_WM_UNIT_FILL_FORE_SCHEMECOLOR_INDEX_3_BRIGHTNESS" val="0"/>
  <p:tag name="KSO_WM_UNIT_FILL_FORE_SCHEMECOLOR_INDEX_3" val="14"/>
  <p:tag name="KSO_WM_UNIT_FILL_FORE_SCHEMECOLOR_INDEX_3_POS" val="1"/>
  <p:tag name="KSO_WM_UNIT_FILL_FORE_SCHEMECOLOR_INDEX_3_TRANS" val="1"/>
  <p:tag name="KSO_WM_UNIT_FILL_GRADIENT_TYPE" val="0"/>
  <p:tag name="KSO_WM_UNIT_FILL_GRADIENT_ANGLE" val="90"/>
  <p:tag name="KSO_WM_UNIT_FILL_GRADIENT_DIRECTION" val="1"/>
  <p:tag name="KSO_WM_UNIT_FILL_TYPE" val="3"/>
  <p:tag name="KSO_WM_UNIT_SHADOW_SCHEMECOLOR_INDEX_BRIGHTNESS" val="-0.25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27936"/>
  <p:tag name="KSO_WM_TAG_VERSION" val="1.0"/>
  <p:tag name="KSO_WM_BEAUTIFY_FLAG" val="#wm#"/>
  <p:tag name="KSO_WM_DIAGRAM_GROUP_CODE" val="l1-1"/>
  <p:tag name="KSO_WM_UNIT_TYPE" val="l_h_i"/>
  <p:tag name="KSO_WM_UNIT_INDEX" val="1_1_1"/>
  <p:tag name="KSO_WM_UNIT_ID" val="diagram20227936_3*l_h_i*1_1_1"/>
  <p:tag name="KSO_WM_UNIT_LAYERLEVEL" val="1_1_1"/>
</p:tagLst>
</file>

<file path=ppt/tags/tag38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7"/>
  <p:tag name="KSO_WM_UNIT_FILL_FORE_SCHEMECOLOR_INDEX_2_POS" val="0.42"/>
  <p:tag name="KSO_WM_UNIT_FILL_FORE_SCHEMECOLOR_INDEX_2_TRANS" val="0"/>
  <p:tag name="KSO_WM_UNIT_FILL_FORE_SCHEMECOLOR_INDEX_3_BRIGHTNESS" val="0"/>
  <p:tag name="KSO_WM_UNIT_FILL_FORE_SCHEMECOLOR_INDEX_3" val="14"/>
  <p:tag name="KSO_WM_UNIT_FILL_FORE_SCHEMECOLOR_INDEX_3_POS" val="1"/>
  <p:tag name="KSO_WM_UNIT_FILL_FORE_SCHEMECOLOR_INDEX_3_TRANS" val="1"/>
  <p:tag name="KSO_WM_UNIT_FILL_GRADIENT_TYPE" val="0"/>
  <p:tag name="KSO_WM_UNIT_FILL_GRADIENT_ANGLE" val="90"/>
  <p:tag name="KSO_WM_UNIT_FILL_GRADIENT_DIRECTION" val="1"/>
  <p:tag name="KSO_WM_UNIT_FILL_TYPE" val="3"/>
  <p:tag name="KSO_WM_UNIT_SHADOW_SCHEMECOLOR_INDEX_BRIGHTNESS" val="-0.25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27936"/>
  <p:tag name="KSO_WM_TAG_VERSION" val="1.0"/>
  <p:tag name="KSO_WM_BEAUTIFY_FLAG" val="#wm#"/>
  <p:tag name="KSO_WM_DIAGRAM_GROUP_CODE" val="l1-1"/>
  <p:tag name="KSO_WM_UNIT_TYPE" val="l_h_i"/>
  <p:tag name="KSO_WM_UNIT_INDEX" val="1_1_1"/>
  <p:tag name="KSO_WM_UNIT_ID" val="diagram20227936_3*l_h_i*1_1_1"/>
  <p:tag name="KSO_WM_UNIT_LAYERLEVEL" val="1_1_1"/>
</p:tagLst>
</file>

<file path=ppt/tags/tag39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.4"/>
  <p:tag name="KSO_WM_UNIT_FILL_FORE_SCHEMECOLOR_INDEX_2" val="7"/>
  <p:tag name="KSO_WM_UNIT_FILL_FORE_SCHEMECOLOR_INDEX_2_POS" val="0.42"/>
  <p:tag name="KSO_WM_UNIT_FILL_FORE_SCHEMECOLOR_INDEX_2_TRANS" val="0"/>
  <p:tag name="KSO_WM_UNIT_FILL_FORE_SCHEMECOLOR_INDEX_3_BRIGHTNESS" val="0"/>
  <p:tag name="KSO_WM_UNIT_FILL_FORE_SCHEMECOLOR_INDEX_3" val="14"/>
  <p:tag name="KSO_WM_UNIT_FILL_FORE_SCHEMECOLOR_INDEX_3_POS" val="1"/>
  <p:tag name="KSO_WM_UNIT_FILL_FORE_SCHEMECOLOR_INDEX_3_TRANS" val="1"/>
  <p:tag name="KSO_WM_UNIT_FILL_GRADIENT_TYPE" val="0"/>
  <p:tag name="KSO_WM_UNIT_FILL_GRADIENT_ANGLE" val="90"/>
  <p:tag name="KSO_WM_UNIT_FILL_GRADIENT_DIRECTION" val="1"/>
  <p:tag name="KSO_WM_UNIT_FILL_TYPE" val="3"/>
  <p:tag name="KSO_WM_UNIT_SHADOW_SCHEMECOLOR_INDEX_BRIGHTNESS" val="-0.25"/>
  <p:tag name="KSO_WM_UNIT_SHADOW_SCHEMECOLOR_INDEX" val="5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27936"/>
  <p:tag name="KSO_WM_TAG_VERSION" val="1.0"/>
  <p:tag name="KSO_WM_BEAUTIFY_FLAG" val="#wm#"/>
  <p:tag name="KSO_WM_DIAGRAM_GROUP_CODE" val="l1-1"/>
  <p:tag name="KSO_WM_UNIT_TYPE" val="l_h_i"/>
  <p:tag name="KSO_WM_UNIT_INDEX" val="1_1_1"/>
  <p:tag name="KSO_WM_UNIT_ID" val="diagram20227936_3*l_h_i*1_1_1"/>
  <p:tag name="KSO_WM_UNIT_LAYERLEVEL" val="1_1_1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现代雅黑体">
      <a:majorFont>
        <a:latin typeface="微软雅黑"/>
        <a:ea typeface="微软雅黑"/>
        <a:cs typeface=""/>
      </a:majorFont>
      <a:minorFont>
        <a:latin typeface="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2447</Words>
  <Application>WPS Office WWO_wpscloud_20260422194245-febe6525c7</Application>
  <PresentationFormat>宽屏</PresentationFormat>
  <Paragraphs>279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Toots Regular</vt:lpstr>
      <vt:lpstr>微软雅黑</vt:lpstr>
      <vt:lpstr>思源黑体 CN Light</vt:lpstr>
      <vt:lpstr>汉仪旗黑KW 55S</vt:lpstr>
      <vt:lpstr>微软雅黑</vt:lpstr>
      <vt:lpstr>汉仪书宋二KW</vt:lpstr>
      <vt:lpstr>Kingsoft Confetti</vt:lpstr>
      <vt:lpstr>思源黑体 CN VF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111</dc:title>
  <dc:creator/>
  <cp:lastModifiedBy/>
  <dcterms:created xsi:type="dcterms:W3CDTF">2026-04-23T15:56:03Z</dcterms:created>
  <dcterms:modified xsi:type="dcterms:W3CDTF">2026-04-23T15:56:03Z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2052-12.9.0.26352</vt:lpwstr>
  </property>
  <property fmtid="{D5CDD505-2E9C-101B-9397-08002B2CF9AE}" pid="3" name="ICV">
    <vt:lpwstr>527627CD5CC1EC09BA2DE76984CCB653_42</vt:lpwstr>
  </property>
</Properties>
</file>